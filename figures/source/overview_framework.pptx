
<file path=[Content_Types].xml><?xml version="1.0" encoding="utf-8"?>
<Types xmlns="http://schemas.openxmlformats.org/package/2006/content-types">
  <Default Extension="jpeg" ContentType="image/jpeg"/>
  <Default Extension="jpg&amp;ehk=TA7JSzTRGYNwt7y6WEQS8yRSZqN7mGHShlwNEbTt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83FF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99"/>
  </p:normalViewPr>
  <p:slideViewPr>
    <p:cSldViewPr snapToGrid="0">
      <p:cViewPr>
        <p:scale>
          <a:sx n="81" d="100"/>
          <a:sy n="81" d="100"/>
        </p:scale>
        <p:origin x="-95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CEF74-8F9E-FE44-9E1B-A0BAAE8FB5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60B8E-9F70-F149-B44C-2D9ECA4608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196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60B8E-9F70-F149-B44C-2D9ECA4608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52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420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08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8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926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994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600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12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571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041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0129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22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85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1E37D-2706-A04C-9BC0-36732694AFFD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803D1-76EB-8548-A870-14AE16C84C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275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jpg&amp;ehk=TA7JSzTRGYNwt7y6WEQS8yRSZqN7mGHShlwNEbTt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136">
            <a:extLst>
              <a:ext uri="{FF2B5EF4-FFF2-40B4-BE49-F238E27FC236}">
                <a16:creationId xmlns:a16="http://schemas.microsoft.com/office/drawing/2014/main" id="{E39F1935-FE42-6EDB-C772-6DCE98E6DDA1}"/>
              </a:ext>
            </a:extLst>
          </p:cNvPr>
          <p:cNvSpPr/>
          <p:nvPr/>
        </p:nvSpPr>
        <p:spPr>
          <a:xfrm>
            <a:off x="8812774" y="1683500"/>
            <a:ext cx="3112416" cy="1934320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A22EF82-AEBC-A856-0B0C-3C5979F2E843}"/>
              </a:ext>
            </a:extLst>
          </p:cNvPr>
          <p:cNvSpPr/>
          <p:nvPr/>
        </p:nvSpPr>
        <p:spPr>
          <a:xfrm>
            <a:off x="2202937" y="1170229"/>
            <a:ext cx="2899646" cy="4785729"/>
          </a:xfrm>
          <a:prstGeom prst="roundRect">
            <a:avLst>
              <a:gd name="adj" fmla="val 4803"/>
            </a:avLst>
          </a:prstGeom>
          <a:noFill/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CB7467-481A-7ECD-6A7E-2C75C6EBAAB6}"/>
              </a:ext>
            </a:extLst>
          </p:cNvPr>
          <p:cNvSpPr txBox="1"/>
          <p:nvPr/>
        </p:nvSpPr>
        <p:spPr>
          <a:xfrm>
            <a:off x="2321381" y="1280443"/>
            <a:ext cx="2706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Evidence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723CAF9-DD24-0E0D-16D5-9AB381504F85}"/>
              </a:ext>
            </a:extLst>
          </p:cNvPr>
          <p:cNvSpPr/>
          <p:nvPr/>
        </p:nvSpPr>
        <p:spPr>
          <a:xfrm>
            <a:off x="2272238" y="1806054"/>
            <a:ext cx="2759623" cy="1827125"/>
          </a:xfrm>
          <a:prstGeom prst="roundRect">
            <a:avLst>
              <a:gd name="adj" fmla="val 4803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 descr="ARCHS4: Uniformly Processed RNA-seq Data from GEO">
            <a:extLst>
              <a:ext uri="{FF2B5EF4-FFF2-40B4-BE49-F238E27FC236}">
                <a16:creationId xmlns:a16="http://schemas.microsoft.com/office/drawing/2014/main" id="{B18F0DAE-0676-B421-0EDC-86D9AC9D4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099" y="1783577"/>
            <a:ext cx="1045440" cy="479401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B2FBA79D-8BCF-93B4-BC4D-2562208A83DF}"/>
              </a:ext>
            </a:extLst>
          </p:cNvPr>
          <p:cNvGrpSpPr/>
          <p:nvPr/>
        </p:nvGrpSpPr>
        <p:grpSpPr>
          <a:xfrm>
            <a:off x="2379557" y="2285826"/>
            <a:ext cx="1272059" cy="560280"/>
            <a:chOff x="4113487" y="3429000"/>
            <a:chExt cx="1272059" cy="560280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D0768E5A-72C7-88D6-7CB4-7D029076D21B}"/>
                </a:ext>
              </a:extLst>
            </p:cNvPr>
            <p:cNvSpPr/>
            <p:nvPr/>
          </p:nvSpPr>
          <p:spPr>
            <a:xfrm>
              <a:off x="4113487" y="3429000"/>
              <a:ext cx="1272059" cy="560280"/>
            </a:xfrm>
            <a:prstGeom prst="roundRect">
              <a:avLst>
                <a:gd name="adj" fmla="val 480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mutation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AA192C2-550B-EA5A-A5F9-F5CE1B639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8687" y="3516504"/>
              <a:ext cx="416859" cy="416859"/>
            </a:xfrm>
            <a:prstGeom prst="rect">
              <a:avLst/>
            </a:prstGeom>
          </p:spPr>
        </p:pic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0E7632D-478C-E8DF-57F4-AC357CC62DCA}"/>
              </a:ext>
            </a:extLst>
          </p:cNvPr>
          <p:cNvSpPr txBox="1"/>
          <p:nvPr/>
        </p:nvSpPr>
        <p:spPr>
          <a:xfrm>
            <a:off x="2343344" y="1835863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Omics</a:t>
            </a:r>
            <a:r>
              <a:rPr kumimoji="1"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1A70006-FFBF-DA0D-B7AA-46946F71167E}"/>
              </a:ext>
            </a:extLst>
          </p:cNvPr>
          <p:cNvGrpSpPr/>
          <p:nvPr/>
        </p:nvGrpSpPr>
        <p:grpSpPr>
          <a:xfrm>
            <a:off x="2352662" y="3007753"/>
            <a:ext cx="1557309" cy="509040"/>
            <a:chOff x="3985740" y="3966296"/>
            <a:chExt cx="1557309" cy="509040"/>
          </a:xfrm>
        </p:grpSpPr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45E92A50-33FD-F4DB-E6C6-E35E4528914E}"/>
                </a:ext>
              </a:extLst>
            </p:cNvPr>
            <p:cNvSpPr/>
            <p:nvPr/>
          </p:nvSpPr>
          <p:spPr>
            <a:xfrm>
              <a:off x="3985740" y="3966296"/>
              <a:ext cx="1557309" cy="509040"/>
            </a:xfrm>
            <a:prstGeom prst="roundRect">
              <a:avLst>
                <a:gd name="adj" fmla="val 480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expression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329D975-673F-6B97-EB10-11C55ECE1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2306" y="4033731"/>
              <a:ext cx="430693" cy="430693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1F653F3-62C8-812F-28F2-3C5B24D76D1E}"/>
              </a:ext>
            </a:extLst>
          </p:cNvPr>
          <p:cNvGrpSpPr/>
          <p:nvPr/>
        </p:nvGrpSpPr>
        <p:grpSpPr>
          <a:xfrm>
            <a:off x="3718592" y="2299096"/>
            <a:ext cx="1219256" cy="560280"/>
            <a:chOff x="5974921" y="2477474"/>
            <a:chExt cx="1219256" cy="560280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B7C5CF4B-7091-DF15-774E-3058AF5F1FC5}"/>
                </a:ext>
              </a:extLst>
            </p:cNvPr>
            <p:cNvSpPr/>
            <p:nvPr/>
          </p:nvSpPr>
          <p:spPr>
            <a:xfrm>
              <a:off x="5974921" y="2477474"/>
              <a:ext cx="1219256" cy="560280"/>
            </a:xfrm>
            <a:prstGeom prst="roundRect">
              <a:avLst>
                <a:gd name="adj" fmla="val 480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copy </a:t>
              </a:r>
            </a:p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number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AE761A6-B7C7-2A71-4CAE-D7059E50F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50423" y="2582801"/>
              <a:ext cx="385766" cy="385766"/>
            </a:xfrm>
            <a:prstGeom prst="rect">
              <a:avLst/>
            </a:prstGeom>
          </p:spPr>
        </p:pic>
      </p:grp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2A645B4-849A-E405-E986-0E102255C1B0}"/>
              </a:ext>
            </a:extLst>
          </p:cNvPr>
          <p:cNvSpPr/>
          <p:nvPr/>
        </p:nvSpPr>
        <p:spPr>
          <a:xfrm>
            <a:off x="3954262" y="3009642"/>
            <a:ext cx="996969" cy="509040"/>
          </a:xfrm>
          <a:prstGeom prst="roundRect">
            <a:avLst>
              <a:gd name="adj" fmla="val 4803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tlCol="0" anchor="ctr"/>
          <a:lstStyle/>
          <a:p>
            <a:r>
              <a:rPr kumimoji="1" lang="en-US" altLang="zh-CN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clinical</a:t>
            </a:r>
          </a:p>
          <a:p>
            <a:r>
              <a:rPr kumimoji="1" lang="en-US" altLang="zh-CN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result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C5F8566-CE7D-F134-6DB6-51D579D39179}"/>
              </a:ext>
            </a:extLst>
          </p:cNvPr>
          <p:cNvSpPr/>
          <p:nvPr/>
        </p:nvSpPr>
        <p:spPr>
          <a:xfrm>
            <a:off x="2264410" y="3892773"/>
            <a:ext cx="2767451" cy="1898578"/>
          </a:xfrm>
          <a:prstGeom prst="roundRect">
            <a:avLst>
              <a:gd name="adj" fmla="val 4803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图片 32" descr="Download PubMed Logo in SVG Vector or PNG File Format - Logo.wine">
            <a:extLst>
              <a:ext uri="{FF2B5EF4-FFF2-40B4-BE49-F238E27FC236}">
                <a16:creationId xmlns:a16="http://schemas.microsoft.com/office/drawing/2014/main" id="{A3ACA540-6F81-A0E4-8B60-28A1FC7F28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4919" y="3731739"/>
            <a:ext cx="1173738" cy="78249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F87A4936-D975-EB7B-E6D9-F55D28E3B684}"/>
              </a:ext>
            </a:extLst>
          </p:cNvPr>
          <p:cNvSpPr txBox="1"/>
          <p:nvPr/>
        </p:nvSpPr>
        <p:spPr>
          <a:xfrm>
            <a:off x="2293465" y="3914475"/>
            <a:ext cx="15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kumimoji="1"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B510B9F-CE74-16FF-F728-B8FD18476515}"/>
              </a:ext>
            </a:extLst>
          </p:cNvPr>
          <p:cNvGrpSpPr/>
          <p:nvPr/>
        </p:nvGrpSpPr>
        <p:grpSpPr>
          <a:xfrm>
            <a:off x="2307761" y="4333269"/>
            <a:ext cx="1398030" cy="560280"/>
            <a:chOff x="5459970" y="3668751"/>
            <a:chExt cx="1398030" cy="560280"/>
          </a:xfrm>
        </p:grpSpPr>
        <p:sp>
          <p:nvSpPr>
            <p:cNvPr id="44" name="圆角矩形 43">
              <a:extLst>
                <a:ext uri="{FF2B5EF4-FFF2-40B4-BE49-F238E27FC236}">
                  <a16:creationId xmlns:a16="http://schemas.microsoft.com/office/drawing/2014/main" id="{AE34DBFD-F1B4-C0C0-7498-2C4002F36E14}"/>
                </a:ext>
              </a:extLst>
            </p:cNvPr>
            <p:cNvSpPr/>
            <p:nvPr/>
          </p:nvSpPr>
          <p:spPr>
            <a:xfrm>
              <a:off x="5459970" y="3668751"/>
              <a:ext cx="1398030" cy="560280"/>
            </a:xfrm>
            <a:prstGeom prst="roundRect">
              <a:avLst>
                <a:gd name="adj" fmla="val 480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mechanism</a:t>
              </a:r>
            </a:p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claim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FF2577B5-7530-CDEC-7F55-4F4079C81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88100" y="3713941"/>
              <a:ext cx="469900" cy="469900"/>
            </a:xfrm>
            <a:prstGeom prst="rect">
              <a:avLst/>
            </a:prstGeom>
          </p:spPr>
        </p:pic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C1BAC9D-16CC-97C7-F9C3-97E529FD1DC0}"/>
              </a:ext>
            </a:extLst>
          </p:cNvPr>
          <p:cNvGrpSpPr/>
          <p:nvPr/>
        </p:nvGrpSpPr>
        <p:grpSpPr>
          <a:xfrm>
            <a:off x="2312322" y="5045118"/>
            <a:ext cx="1357689" cy="560280"/>
            <a:chOff x="5008954" y="4212427"/>
            <a:chExt cx="1357689" cy="560280"/>
          </a:xfrm>
        </p:grpSpPr>
        <p:sp>
          <p:nvSpPr>
            <p:cNvPr id="48" name="圆角矩形 47">
              <a:extLst>
                <a:ext uri="{FF2B5EF4-FFF2-40B4-BE49-F238E27FC236}">
                  <a16:creationId xmlns:a16="http://schemas.microsoft.com/office/drawing/2014/main" id="{572EABA7-25DF-BC6F-D834-B88A57A06A4A}"/>
                </a:ext>
              </a:extLst>
            </p:cNvPr>
            <p:cNvSpPr/>
            <p:nvPr/>
          </p:nvSpPr>
          <p:spPr>
            <a:xfrm>
              <a:off x="5008954" y="4212427"/>
              <a:ext cx="1312142" cy="560280"/>
            </a:xfrm>
            <a:prstGeom prst="roundRect">
              <a:avLst>
                <a:gd name="adj" fmla="val 480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phenotype</a:t>
              </a:r>
            </a:p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/ outcome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7957ED7-C0DF-0CC7-3905-3013B41BF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15763" y="4284385"/>
              <a:ext cx="450880" cy="450880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DE78C02-FFD8-C159-4F2A-1BF46FDCFE01}"/>
              </a:ext>
            </a:extLst>
          </p:cNvPr>
          <p:cNvGrpSpPr/>
          <p:nvPr/>
        </p:nvGrpSpPr>
        <p:grpSpPr>
          <a:xfrm>
            <a:off x="3727729" y="4329965"/>
            <a:ext cx="1263791" cy="560280"/>
            <a:chOff x="5396985" y="4603985"/>
            <a:chExt cx="1263791" cy="560280"/>
          </a:xfrm>
        </p:grpSpPr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31F78C23-9B85-1967-14DE-77FD6639A451}"/>
                </a:ext>
              </a:extLst>
            </p:cNvPr>
            <p:cNvSpPr/>
            <p:nvPr/>
          </p:nvSpPr>
          <p:spPr>
            <a:xfrm>
              <a:off x="5396985" y="4603985"/>
              <a:ext cx="1263791" cy="560280"/>
            </a:xfrm>
            <a:prstGeom prst="roundRect">
              <a:avLst>
                <a:gd name="adj" fmla="val 480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study</a:t>
              </a:r>
            </a:p>
            <a:p>
              <a:r>
                <a:rPr kumimoji="1" lang="en-US" altLang="zh-CN" sz="1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context</a:t>
              </a:r>
              <a:endPara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39FE0179-51B7-0576-73DC-1DEF6D713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37088" y="4649175"/>
              <a:ext cx="469900" cy="469900"/>
            </a:xfrm>
            <a:prstGeom prst="rect">
              <a:avLst/>
            </a:prstGeom>
          </p:spPr>
        </p:pic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FB1BBDE-34B8-A2E1-EE93-034D3365442F}"/>
              </a:ext>
            </a:extLst>
          </p:cNvPr>
          <p:cNvGrpSpPr/>
          <p:nvPr/>
        </p:nvGrpSpPr>
        <p:grpSpPr>
          <a:xfrm>
            <a:off x="3657390" y="5045118"/>
            <a:ext cx="1334130" cy="560280"/>
            <a:chOff x="4421845" y="4412969"/>
            <a:chExt cx="1334130" cy="560280"/>
          </a:xfrm>
        </p:grpSpPr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48D71CA7-6565-7A67-6724-37B1CD9FDEBB}"/>
                </a:ext>
              </a:extLst>
            </p:cNvPr>
            <p:cNvSpPr/>
            <p:nvPr/>
          </p:nvSpPr>
          <p:spPr>
            <a:xfrm>
              <a:off x="4421845" y="4412969"/>
              <a:ext cx="1334130" cy="560280"/>
            </a:xfrm>
            <a:prstGeom prst="roundRect">
              <a:avLst>
                <a:gd name="adj" fmla="val 480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2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provenance</a:t>
              </a:r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8CE603AA-EE2B-2AAF-B690-5D3E76C1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282738" y="4503348"/>
              <a:ext cx="469901" cy="469901"/>
            </a:xfrm>
            <a:prstGeom prst="rect">
              <a:avLst/>
            </a:prstGeom>
          </p:spPr>
        </p:pic>
      </p:grp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96806EB4-0504-9E2B-6BA7-2898A2F7494E}"/>
              </a:ext>
            </a:extLst>
          </p:cNvPr>
          <p:cNvSpPr/>
          <p:nvPr/>
        </p:nvSpPr>
        <p:spPr>
          <a:xfrm>
            <a:off x="5286816" y="1170229"/>
            <a:ext cx="3272277" cy="4785729"/>
          </a:xfrm>
          <a:prstGeom prst="roundRect">
            <a:avLst>
              <a:gd name="adj" fmla="val 4803"/>
            </a:avLst>
          </a:prstGeom>
          <a:noFill/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15DC563-F20A-E754-2DF5-2AFD200FB573}"/>
              </a:ext>
            </a:extLst>
          </p:cNvPr>
          <p:cNvSpPr txBox="1"/>
          <p:nvPr/>
        </p:nvSpPr>
        <p:spPr>
          <a:xfrm>
            <a:off x="5326646" y="1277296"/>
            <a:ext cx="3189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09316BB5-1A03-E530-9348-EF5E998CC6B1}"/>
              </a:ext>
            </a:extLst>
          </p:cNvPr>
          <p:cNvSpPr/>
          <p:nvPr/>
        </p:nvSpPr>
        <p:spPr>
          <a:xfrm>
            <a:off x="5402974" y="1803823"/>
            <a:ext cx="3041429" cy="957472"/>
          </a:xfrm>
          <a:prstGeom prst="roundRect">
            <a:avLst>
              <a:gd name="adj" fmla="val 480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1" name="图片 60" descr="HGNC | Department of Haematology">
            <a:extLst>
              <a:ext uri="{FF2B5EF4-FFF2-40B4-BE49-F238E27FC236}">
                <a16:creationId xmlns:a16="http://schemas.microsoft.com/office/drawing/2014/main" id="{8E174618-2132-63DF-4311-69E0864FE5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24622" y="2173521"/>
            <a:ext cx="545874" cy="228974"/>
          </a:xfrm>
          <a:prstGeom prst="rect">
            <a:avLst/>
          </a:prstGeom>
        </p:spPr>
      </p:pic>
      <p:pic>
        <p:nvPicPr>
          <p:cNvPr id="63" name="图形 62" descr="Disease Ontology">
            <a:extLst>
              <a:ext uri="{FF2B5EF4-FFF2-40B4-BE49-F238E27FC236}">
                <a16:creationId xmlns:a16="http://schemas.microsoft.com/office/drawing/2014/main" id="{7DB18C0B-0B7D-D56C-5A3B-628D91385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9564" y="2410616"/>
            <a:ext cx="590550" cy="25400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4060431F-51AF-DF99-B69A-9D293B7599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0115" y="2152556"/>
            <a:ext cx="667775" cy="254000"/>
          </a:xfrm>
          <a:prstGeom prst="rect">
            <a:avLst/>
          </a:prstGeom>
        </p:spPr>
      </p:pic>
      <p:pic>
        <p:nvPicPr>
          <p:cNvPr id="67" name="图片 66" descr="Drugbank — scaling the world’s-leading online drug database | by ...">
            <a:extLst>
              <a:ext uri="{FF2B5EF4-FFF2-40B4-BE49-F238E27FC236}">
                <a16:creationId xmlns:a16="http://schemas.microsoft.com/office/drawing/2014/main" id="{32FC76C7-F3E0-0BAB-15F3-DD4A8ECC61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5805" y="2370750"/>
            <a:ext cx="976392" cy="354756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D7FB62D6-24F0-05DD-99DF-9F8CBAAC8300}"/>
              </a:ext>
            </a:extLst>
          </p:cNvPr>
          <p:cNvSpPr txBox="1"/>
          <p:nvPr/>
        </p:nvSpPr>
        <p:spPr>
          <a:xfrm>
            <a:off x="5896871" y="1776932"/>
            <a:ext cx="2052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kumimoji="1"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kumimoji="1"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0C648DE-B45D-6E08-D29F-18603CF48644}"/>
              </a:ext>
            </a:extLst>
          </p:cNvPr>
          <p:cNvSpPr txBox="1"/>
          <p:nvPr/>
        </p:nvSpPr>
        <p:spPr>
          <a:xfrm>
            <a:off x="5404324" y="2088968"/>
            <a:ext cx="1751968" cy="570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 / Disease / Drug </a:t>
            </a:r>
          </a:p>
          <a:p>
            <a:pPr>
              <a:lnSpc>
                <a:spcPct val="150000"/>
              </a:lnSpc>
            </a:pPr>
            <a:r>
              <a:rPr kumimoji="1"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 Pathway / Phenotype</a:t>
            </a:r>
            <a:endParaRPr kumimoji="1" lang="zh-CN" altLang="en-US" sz="1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F1D82D46-9A54-E0A8-AB36-CF81B10A08E4}"/>
              </a:ext>
            </a:extLst>
          </p:cNvPr>
          <p:cNvSpPr/>
          <p:nvPr/>
        </p:nvSpPr>
        <p:spPr>
          <a:xfrm>
            <a:off x="5402974" y="2986283"/>
            <a:ext cx="3041429" cy="1160178"/>
          </a:xfrm>
          <a:prstGeom prst="roundRect">
            <a:avLst>
              <a:gd name="adj" fmla="val 480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488A91A-F325-49A2-7549-2C460B39382C}"/>
              </a:ext>
            </a:extLst>
          </p:cNvPr>
          <p:cNvSpPr txBox="1"/>
          <p:nvPr/>
        </p:nvSpPr>
        <p:spPr>
          <a:xfrm>
            <a:off x="5541009" y="2955087"/>
            <a:ext cx="27638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Evidence Modeling</a:t>
            </a:r>
            <a:endParaRPr kumimoji="1"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33E29539-3B70-59D3-9292-45C9D2775422}"/>
              </a:ext>
            </a:extLst>
          </p:cNvPr>
          <p:cNvSpPr/>
          <p:nvPr/>
        </p:nvSpPr>
        <p:spPr>
          <a:xfrm>
            <a:off x="5497815" y="3303037"/>
            <a:ext cx="1401372" cy="445575"/>
          </a:xfrm>
          <a:prstGeom prst="roundRect">
            <a:avLst>
              <a:gd name="adj" fmla="val 480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Omics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kumimoji="1"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Observation</a:t>
            </a:r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E55CD0CF-1130-0CA6-4B41-F1C24E0891CC}"/>
              </a:ext>
            </a:extLst>
          </p:cNvPr>
          <p:cNvSpPr/>
          <p:nvPr/>
        </p:nvSpPr>
        <p:spPr>
          <a:xfrm>
            <a:off x="7031010" y="3303037"/>
            <a:ext cx="1332764" cy="445575"/>
          </a:xfrm>
          <a:prstGeom prst="roundRect">
            <a:avLst>
              <a:gd name="adj" fmla="val 480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Literature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Observation</a:t>
            </a:r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D10B7D98-FCFC-CA9F-1B12-B260BB6375B1}"/>
              </a:ext>
            </a:extLst>
          </p:cNvPr>
          <p:cNvSpPr/>
          <p:nvPr/>
        </p:nvSpPr>
        <p:spPr>
          <a:xfrm>
            <a:off x="5394492" y="4400873"/>
            <a:ext cx="3041429" cy="1390478"/>
          </a:xfrm>
          <a:prstGeom prst="roundRect">
            <a:avLst>
              <a:gd name="adj" fmla="val 480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03A7FD4-0D7F-8C3C-B30D-FB543B9DE016}"/>
              </a:ext>
            </a:extLst>
          </p:cNvPr>
          <p:cNvSpPr txBox="1"/>
          <p:nvPr/>
        </p:nvSpPr>
        <p:spPr>
          <a:xfrm>
            <a:off x="5770906" y="4411593"/>
            <a:ext cx="2306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Unit</a:t>
            </a:r>
            <a:r>
              <a:rPr kumimoji="1"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endParaRPr kumimoji="1"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10F9BE6-13F9-A192-E218-97219FCFFCE3}"/>
              </a:ext>
            </a:extLst>
          </p:cNvPr>
          <p:cNvSpPr txBox="1"/>
          <p:nvPr/>
        </p:nvSpPr>
        <p:spPr>
          <a:xfrm>
            <a:off x="5440111" y="4729281"/>
            <a:ext cx="2330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cohort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tatistical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aggregation</a:t>
            </a: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F168A279-57E9-2801-A6B6-0193886F1A1F}"/>
              </a:ext>
            </a:extLst>
          </p:cNvPr>
          <p:cNvSpPr/>
          <p:nvPr/>
        </p:nvSpPr>
        <p:spPr>
          <a:xfrm>
            <a:off x="5447688" y="5066022"/>
            <a:ext cx="1001991" cy="363761"/>
          </a:xfrm>
          <a:prstGeom prst="roundRect">
            <a:avLst>
              <a:gd name="adj" fmla="val 480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Observation</a:t>
            </a:r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30373118-17AA-9A04-27B4-996E58191169}"/>
              </a:ext>
            </a:extLst>
          </p:cNvPr>
          <p:cNvSpPr/>
          <p:nvPr/>
        </p:nvSpPr>
        <p:spPr>
          <a:xfrm>
            <a:off x="6746027" y="5070073"/>
            <a:ext cx="672758" cy="363761"/>
          </a:xfrm>
          <a:prstGeom prst="roundRect">
            <a:avLst>
              <a:gd name="adj" fmla="val 480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Claim</a:t>
            </a:r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3EC28FE2-DCEC-D307-F170-C50F6ED24F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 flipH="1">
            <a:off x="6413190" y="5142193"/>
            <a:ext cx="363763" cy="219522"/>
          </a:xfrm>
          <a:prstGeom prst="rect">
            <a:avLst/>
          </a:prstGeom>
        </p:spPr>
      </p:pic>
      <p:sp>
        <p:nvSpPr>
          <p:cNvPr id="85" name="圆角矩形 84">
            <a:extLst>
              <a:ext uri="{FF2B5EF4-FFF2-40B4-BE49-F238E27FC236}">
                <a16:creationId xmlns:a16="http://schemas.microsoft.com/office/drawing/2014/main" id="{2C8732EB-91A0-1B9A-CF3D-A9932BCEBA71}"/>
              </a:ext>
            </a:extLst>
          </p:cNvPr>
          <p:cNvSpPr/>
          <p:nvPr/>
        </p:nvSpPr>
        <p:spPr>
          <a:xfrm>
            <a:off x="7717272" y="5066021"/>
            <a:ext cx="672758" cy="363761"/>
          </a:xfrm>
          <a:prstGeom prst="roundRect">
            <a:avLst>
              <a:gd name="adj" fmla="val 480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Bundle</a:t>
            </a:r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758442B8-02F4-A583-6384-7A7E62F977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 flipH="1">
            <a:off x="7383710" y="5138138"/>
            <a:ext cx="363763" cy="219522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D7B25751-C1A0-0A36-BA1D-2CE541496979}"/>
              </a:ext>
            </a:extLst>
          </p:cNvPr>
          <p:cNvSpPr txBox="1"/>
          <p:nvPr/>
        </p:nvSpPr>
        <p:spPr>
          <a:xfrm>
            <a:off x="6185568" y="5449954"/>
            <a:ext cx="220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claim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semantic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aggregation</a:t>
            </a: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32D92951-3135-EDEC-D4A5-8C979E91675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05442" y="4750462"/>
            <a:ext cx="278489" cy="278489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6AD11128-E203-FCED-8A4A-C3765EA754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8310" y="5475035"/>
            <a:ext cx="290282" cy="290282"/>
          </a:xfrm>
          <a:prstGeom prst="rect">
            <a:avLst/>
          </a:prstGeom>
        </p:spPr>
      </p:pic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69D06C60-2875-7FDD-9E54-72A7EFF8A9AC}"/>
              </a:ext>
            </a:extLst>
          </p:cNvPr>
          <p:cNvCxnSpPr>
            <a:cxnSpLocks/>
            <a:stCxn id="10" idx="3"/>
            <a:endCxn id="70" idx="1"/>
          </p:cNvCxnSpPr>
          <p:nvPr/>
        </p:nvCxnSpPr>
        <p:spPr>
          <a:xfrm flipV="1">
            <a:off x="5031861" y="2374079"/>
            <a:ext cx="372463" cy="345538"/>
          </a:xfrm>
          <a:prstGeom prst="bentConnector3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肘形连接符 96">
            <a:extLst>
              <a:ext uri="{FF2B5EF4-FFF2-40B4-BE49-F238E27FC236}">
                <a16:creationId xmlns:a16="http://schemas.microsoft.com/office/drawing/2014/main" id="{ACEB49C3-24CE-B0EC-6CC6-FD86917F5744}"/>
              </a:ext>
            </a:extLst>
          </p:cNvPr>
          <p:cNvCxnSpPr>
            <a:cxnSpLocks/>
            <a:stCxn id="32" idx="3"/>
            <a:endCxn id="70" idx="1"/>
          </p:cNvCxnSpPr>
          <p:nvPr/>
        </p:nvCxnSpPr>
        <p:spPr>
          <a:xfrm flipV="1">
            <a:off x="5031861" y="2374079"/>
            <a:ext cx="372463" cy="2467983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下箭头 108">
            <a:extLst>
              <a:ext uri="{FF2B5EF4-FFF2-40B4-BE49-F238E27FC236}">
                <a16:creationId xmlns:a16="http://schemas.microsoft.com/office/drawing/2014/main" id="{BB90DE97-BF41-8742-C9C5-AED53D6DC43A}"/>
              </a:ext>
            </a:extLst>
          </p:cNvPr>
          <p:cNvSpPr/>
          <p:nvPr/>
        </p:nvSpPr>
        <p:spPr>
          <a:xfrm>
            <a:off x="6800733" y="2777415"/>
            <a:ext cx="326178" cy="19129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下箭头 109">
            <a:extLst>
              <a:ext uri="{FF2B5EF4-FFF2-40B4-BE49-F238E27FC236}">
                <a16:creationId xmlns:a16="http://schemas.microsoft.com/office/drawing/2014/main" id="{4B9A2A4D-9B53-D186-4CBD-56683C565398}"/>
              </a:ext>
            </a:extLst>
          </p:cNvPr>
          <p:cNvSpPr/>
          <p:nvPr/>
        </p:nvSpPr>
        <p:spPr>
          <a:xfrm>
            <a:off x="6798605" y="4178021"/>
            <a:ext cx="326178" cy="19129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圆角矩形 110">
            <a:extLst>
              <a:ext uri="{FF2B5EF4-FFF2-40B4-BE49-F238E27FC236}">
                <a16:creationId xmlns:a16="http://schemas.microsoft.com/office/drawing/2014/main" id="{4D23CD49-5DA9-F5DD-E194-159BD1D4F68E}"/>
              </a:ext>
            </a:extLst>
          </p:cNvPr>
          <p:cNvSpPr/>
          <p:nvPr/>
        </p:nvSpPr>
        <p:spPr>
          <a:xfrm>
            <a:off x="8731919" y="1170228"/>
            <a:ext cx="3272277" cy="4785729"/>
          </a:xfrm>
          <a:prstGeom prst="roundRect">
            <a:avLst>
              <a:gd name="adj" fmla="val 4803"/>
            </a:avLst>
          </a:prstGeom>
          <a:noFill/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4A0F4A1-101A-7F02-57D4-72659D4B7878}"/>
              </a:ext>
            </a:extLst>
          </p:cNvPr>
          <p:cNvSpPr txBox="1"/>
          <p:nvPr/>
        </p:nvSpPr>
        <p:spPr>
          <a:xfrm>
            <a:off x="8679131" y="1277296"/>
            <a:ext cx="343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C0A52B22-AD87-90D1-DC75-DC85A6289EB7}"/>
              </a:ext>
            </a:extLst>
          </p:cNvPr>
          <p:cNvSpPr/>
          <p:nvPr/>
        </p:nvSpPr>
        <p:spPr>
          <a:xfrm>
            <a:off x="8867883" y="1809530"/>
            <a:ext cx="1001991" cy="282645"/>
          </a:xfrm>
          <a:prstGeom prst="roundRect">
            <a:avLst>
              <a:gd name="adj" fmla="val 50000"/>
            </a:avLst>
          </a:prstGeom>
          <a:solidFill>
            <a:srgbClr val="D883FF">
              <a:alpha val="50196"/>
            </a:srgb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Evidence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2452F716-DB2F-4A45-32F1-130B4EE7E16C}"/>
              </a:ext>
            </a:extLst>
          </p:cNvPr>
          <p:cNvSpPr/>
          <p:nvPr/>
        </p:nvSpPr>
        <p:spPr>
          <a:xfrm>
            <a:off x="10859877" y="1809530"/>
            <a:ext cx="1001991" cy="28264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Entities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C24731DB-F590-1FE4-DE1F-C1AE6B691528}"/>
              </a:ext>
            </a:extLst>
          </p:cNvPr>
          <p:cNvSpPr txBox="1"/>
          <p:nvPr/>
        </p:nvSpPr>
        <p:spPr>
          <a:xfrm>
            <a:off x="10044353" y="1703065"/>
            <a:ext cx="740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LINKED_TO</a:t>
            </a:r>
            <a:endParaRPr kumimoji="1"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523B2639-135B-F5C7-0824-D0A98E212D0C}"/>
              </a:ext>
            </a:extLst>
          </p:cNvPr>
          <p:cNvSpPr/>
          <p:nvPr/>
        </p:nvSpPr>
        <p:spPr>
          <a:xfrm>
            <a:off x="8867883" y="2177270"/>
            <a:ext cx="1001991" cy="282646"/>
          </a:xfrm>
          <a:prstGeom prst="roundRect">
            <a:avLst>
              <a:gd name="adj" fmla="val 50000"/>
            </a:avLst>
          </a:prstGeom>
          <a:solidFill>
            <a:srgbClr val="D883FF">
              <a:alpha val="50196"/>
            </a:srgb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Evidence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9" name="圆角矩形 118">
            <a:extLst>
              <a:ext uri="{FF2B5EF4-FFF2-40B4-BE49-F238E27FC236}">
                <a16:creationId xmlns:a16="http://schemas.microsoft.com/office/drawing/2014/main" id="{54046CE2-3D4B-4E0D-14E1-955038449174}"/>
              </a:ext>
            </a:extLst>
          </p:cNvPr>
          <p:cNvSpPr/>
          <p:nvPr/>
        </p:nvSpPr>
        <p:spPr>
          <a:xfrm>
            <a:off x="10859877" y="2177270"/>
            <a:ext cx="1001991" cy="282646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Cohort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77CB72F-7A68-ED5E-870B-F5F34F598DC0}"/>
              </a:ext>
            </a:extLst>
          </p:cNvPr>
          <p:cNvSpPr txBox="1"/>
          <p:nvPr/>
        </p:nvSpPr>
        <p:spPr>
          <a:xfrm>
            <a:off x="9974788" y="2084156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OBSERVED_IN</a:t>
            </a:r>
            <a:endParaRPr kumimoji="1"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246B92A4-2540-1DD6-94C5-90E6A0B9894E}"/>
              </a:ext>
            </a:extLst>
          </p:cNvPr>
          <p:cNvSpPr/>
          <p:nvPr/>
        </p:nvSpPr>
        <p:spPr>
          <a:xfrm>
            <a:off x="8875858" y="2683762"/>
            <a:ext cx="1001991" cy="282646"/>
          </a:xfrm>
          <a:prstGeom prst="roundRect">
            <a:avLst>
              <a:gd name="adj" fmla="val 50000"/>
            </a:avLst>
          </a:prstGeom>
          <a:solidFill>
            <a:srgbClr val="D883FF">
              <a:alpha val="50196"/>
            </a:srgb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Evidence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3" name="圆角矩形 122">
            <a:extLst>
              <a:ext uri="{FF2B5EF4-FFF2-40B4-BE49-F238E27FC236}">
                <a16:creationId xmlns:a16="http://schemas.microsoft.com/office/drawing/2014/main" id="{9518FBA4-7112-D9C7-D8A4-28CCB0705472}"/>
              </a:ext>
            </a:extLst>
          </p:cNvPr>
          <p:cNvSpPr/>
          <p:nvPr/>
        </p:nvSpPr>
        <p:spPr>
          <a:xfrm>
            <a:off x="10867852" y="2683762"/>
            <a:ext cx="1001991" cy="282646"/>
          </a:xfrm>
          <a:prstGeom prst="roundRect">
            <a:avLst>
              <a:gd name="adj" fmla="val 50000"/>
            </a:avLst>
          </a:prstGeom>
          <a:solidFill>
            <a:srgbClr val="D883FF">
              <a:alpha val="50196"/>
            </a:srgb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Evidence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F616A2D-9F6A-452F-426C-0440372634BC}"/>
              </a:ext>
            </a:extLst>
          </p:cNvPr>
          <p:cNvSpPr txBox="1"/>
          <p:nvPr/>
        </p:nvSpPr>
        <p:spPr>
          <a:xfrm>
            <a:off x="9308271" y="2488793"/>
            <a:ext cx="2249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SUPPORTS / REFINES / CONTRADICTS / …</a:t>
            </a:r>
            <a:endParaRPr kumimoji="1"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6" name="圆角矩形 125">
            <a:extLst>
              <a:ext uri="{FF2B5EF4-FFF2-40B4-BE49-F238E27FC236}">
                <a16:creationId xmlns:a16="http://schemas.microsoft.com/office/drawing/2014/main" id="{27B54FCA-7D61-F946-1EF8-87D81A968440}"/>
              </a:ext>
            </a:extLst>
          </p:cNvPr>
          <p:cNvSpPr/>
          <p:nvPr/>
        </p:nvSpPr>
        <p:spPr>
          <a:xfrm>
            <a:off x="8867884" y="3198036"/>
            <a:ext cx="1026258" cy="27722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Observation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79CD095C-A6A5-65C6-F577-CA9CB40EAA69}"/>
              </a:ext>
            </a:extLst>
          </p:cNvPr>
          <p:cNvSpPr/>
          <p:nvPr/>
        </p:nvSpPr>
        <p:spPr>
          <a:xfrm>
            <a:off x="10143114" y="3192142"/>
            <a:ext cx="751858" cy="27722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Claim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8" name="圆角矩形 127">
            <a:extLst>
              <a:ext uri="{FF2B5EF4-FFF2-40B4-BE49-F238E27FC236}">
                <a16:creationId xmlns:a16="http://schemas.microsoft.com/office/drawing/2014/main" id="{892116AF-4747-1FA0-776A-1570DD8FDF8E}"/>
              </a:ext>
            </a:extLst>
          </p:cNvPr>
          <p:cNvSpPr/>
          <p:nvPr/>
        </p:nvSpPr>
        <p:spPr>
          <a:xfrm>
            <a:off x="11110566" y="3188609"/>
            <a:ext cx="751858" cy="27722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Bundle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3330C43F-C288-8ED1-4D36-23A96B17D6E8}"/>
              </a:ext>
            </a:extLst>
          </p:cNvPr>
          <p:cNvSpPr txBox="1"/>
          <p:nvPr/>
        </p:nvSpPr>
        <p:spPr>
          <a:xfrm>
            <a:off x="9493396" y="2993529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DERIVED_FROM</a:t>
            </a:r>
            <a:endParaRPr kumimoji="1"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200D54E-327B-FAF8-D8B1-CDABCC1ACCFC}"/>
              </a:ext>
            </a:extLst>
          </p:cNvPr>
          <p:cNvSpPr txBox="1"/>
          <p:nvPr/>
        </p:nvSpPr>
        <p:spPr>
          <a:xfrm>
            <a:off x="10638362" y="299715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DERIVED_FROM</a:t>
            </a:r>
            <a:endParaRPr kumimoji="1"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6857959D-3B3E-45F0-C779-F3941DB57AA6}"/>
              </a:ext>
            </a:extLst>
          </p:cNvPr>
          <p:cNvSpPr/>
          <p:nvPr/>
        </p:nvSpPr>
        <p:spPr>
          <a:xfrm>
            <a:off x="8812774" y="3714993"/>
            <a:ext cx="3112416" cy="2134264"/>
          </a:xfrm>
          <a:prstGeom prst="roundRect">
            <a:avLst>
              <a:gd name="adj" fmla="val 39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  <a:prstDash val="dash"/>
          </a:ln>
          <a:effectLst>
            <a:innerShdw blurRad="63500" dist="50800" dir="13500000">
              <a:prstClr val="black">
                <a:alpha val="28707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ts val="1400"/>
              </a:lnSpc>
            </a:pPr>
            <a:r>
              <a:rPr kumimoji="1"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062667CB-4957-1C63-0BAA-1EC4D8DDE571}"/>
              </a:ext>
            </a:extLst>
          </p:cNvPr>
          <p:cNvSpPr/>
          <p:nvPr/>
        </p:nvSpPr>
        <p:spPr>
          <a:xfrm>
            <a:off x="9618909" y="4423247"/>
            <a:ext cx="196654" cy="193100"/>
          </a:xfrm>
          <a:prstGeom prst="ellipse">
            <a:avLst/>
          </a:prstGeom>
          <a:solidFill>
            <a:srgbClr val="D88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05C54455-EBFD-CCE6-B0C8-7B9E606799A8}"/>
              </a:ext>
            </a:extLst>
          </p:cNvPr>
          <p:cNvSpPr/>
          <p:nvPr/>
        </p:nvSpPr>
        <p:spPr>
          <a:xfrm>
            <a:off x="10969624" y="4421755"/>
            <a:ext cx="196654" cy="193100"/>
          </a:xfrm>
          <a:prstGeom prst="ellipse">
            <a:avLst/>
          </a:prstGeom>
          <a:solidFill>
            <a:srgbClr val="D88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72778572-B999-A052-6CDF-4F17F65E620B}"/>
              </a:ext>
            </a:extLst>
          </p:cNvPr>
          <p:cNvSpPr/>
          <p:nvPr/>
        </p:nvSpPr>
        <p:spPr>
          <a:xfrm>
            <a:off x="9800629" y="3805183"/>
            <a:ext cx="196654" cy="193100"/>
          </a:xfrm>
          <a:prstGeom prst="ellipse">
            <a:avLst/>
          </a:prstGeom>
          <a:solidFill>
            <a:srgbClr val="D88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AF296D6-DCC4-2938-71BD-D711C654FC5A}"/>
              </a:ext>
            </a:extLst>
          </p:cNvPr>
          <p:cNvSpPr txBox="1"/>
          <p:nvPr/>
        </p:nvSpPr>
        <p:spPr>
          <a:xfrm>
            <a:off x="9962808" y="3777219"/>
            <a:ext cx="1114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PDCD1-HCC bundle</a:t>
            </a:r>
            <a:endParaRPr lang="zh-CN" altLang="zh-CN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B975B2D0-406F-E3B4-8FBC-5403A516CA9E}"/>
              </a:ext>
            </a:extLst>
          </p:cNvPr>
          <p:cNvCxnSpPr>
            <a:cxnSpLocks/>
            <a:stCxn id="113" idx="3"/>
            <a:endCxn id="114" idx="1"/>
          </p:cNvCxnSpPr>
          <p:nvPr/>
        </p:nvCxnSpPr>
        <p:spPr>
          <a:xfrm>
            <a:off x="9869874" y="1950853"/>
            <a:ext cx="990003" cy="0"/>
          </a:xfrm>
          <a:prstGeom prst="straightConnector1">
            <a:avLst/>
          </a:prstGeom>
          <a:ln w="25400">
            <a:solidFill>
              <a:schemeClr val="bg2">
                <a:lumMod val="2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91BDEAD-1A44-975A-B974-77A3CE59460D}"/>
              </a:ext>
            </a:extLst>
          </p:cNvPr>
          <p:cNvCxnSpPr>
            <a:cxnSpLocks/>
            <a:stCxn id="118" idx="3"/>
            <a:endCxn id="119" idx="1"/>
          </p:cNvCxnSpPr>
          <p:nvPr/>
        </p:nvCxnSpPr>
        <p:spPr>
          <a:xfrm>
            <a:off x="9869874" y="2318593"/>
            <a:ext cx="990003" cy="0"/>
          </a:xfrm>
          <a:prstGeom prst="straightConnector1">
            <a:avLst/>
          </a:prstGeom>
          <a:ln w="25400">
            <a:solidFill>
              <a:schemeClr val="accent1">
                <a:lumMod val="7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D1AC09E6-2440-7D15-FE1B-A422962983A0}"/>
              </a:ext>
            </a:extLst>
          </p:cNvPr>
          <p:cNvCxnSpPr>
            <a:cxnSpLocks/>
            <a:stCxn id="122" idx="3"/>
            <a:endCxn id="123" idx="1"/>
          </p:cNvCxnSpPr>
          <p:nvPr/>
        </p:nvCxnSpPr>
        <p:spPr>
          <a:xfrm>
            <a:off x="9877849" y="2825085"/>
            <a:ext cx="990003" cy="0"/>
          </a:xfrm>
          <a:prstGeom prst="straightConnector1">
            <a:avLst/>
          </a:prstGeom>
          <a:ln w="25400">
            <a:solidFill>
              <a:schemeClr val="accent4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876A4302-49FC-9D85-CCC3-633262F9B663}"/>
              </a:ext>
            </a:extLst>
          </p:cNvPr>
          <p:cNvCxnSpPr>
            <a:cxnSpLocks/>
            <a:stCxn id="126" idx="3"/>
            <a:endCxn id="127" idx="1"/>
          </p:cNvCxnSpPr>
          <p:nvPr/>
        </p:nvCxnSpPr>
        <p:spPr>
          <a:xfrm flipV="1">
            <a:off x="9894142" y="3330753"/>
            <a:ext cx="248972" cy="5894"/>
          </a:xfrm>
          <a:prstGeom prst="straightConnector1">
            <a:avLst/>
          </a:prstGeom>
          <a:ln w="25400">
            <a:solidFill>
              <a:schemeClr val="accent6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204E6DCE-AB71-AACA-E311-532C58A1CCB7}"/>
              </a:ext>
            </a:extLst>
          </p:cNvPr>
          <p:cNvCxnSpPr>
            <a:cxnSpLocks/>
            <a:stCxn id="127" idx="3"/>
            <a:endCxn id="128" idx="1"/>
          </p:cNvCxnSpPr>
          <p:nvPr/>
        </p:nvCxnSpPr>
        <p:spPr>
          <a:xfrm flipV="1">
            <a:off x="10894972" y="3327220"/>
            <a:ext cx="215594" cy="3533"/>
          </a:xfrm>
          <a:prstGeom prst="straightConnector1">
            <a:avLst/>
          </a:prstGeom>
          <a:ln w="25400">
            <a:solidFill>
              <a:schemeClr val="accent6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线箭头连接符 159">
            <a:extLst>
              <a:ext uri="{FF2B5EF4-FFF2-40B4-BE49-F238E27FC236}">
                <a16:creationId xmlns:a16="http://schemas.microsoft.com/office/drawing/2014/main" id="{FB2C7BC0-34B4-038A-082E-F90BFD25014C}"/>
              </a:ext>
            </a:extLst>
          </p:cNvPr>
          <p:cNvCxnSpPr>
            <a:cxnSpLocks/>
            <a:stCxn id="138" idx="0"/>
            <a:endCxn id="142" idx="4"/>
          </p:cNvCxnSpPr>
          <p:nvPr/>
        </p:nvCxnSpPr>
        <p:spPr>
          <a:xfrm flipV="1">
            <a:off x="9717236" y="3998283"/>
            <a:ext cx="181720" cy="424964"/>
          </a:xfrm>
          <a:prstGeom prst="straightConnector1">
            <a:avLst/>
          </a:prstGeom>
          <a:ln w="25400">
            <a:solidFill>
              <a:schemeClr val="accent6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2F912E8A-07B2-1B7D-005C-C21EC1E39AC3}"/>
              </a:ext>
            </a:extLst>
          </p:cNvPr>
          <p:cNvCxnSpPr>
            <a:cxnSpLocks/>
            <a:stCxn id="142" idx="5"/>
            <a:endCxn id="140" idx="1"/>
          </p:cNvCxnSpPr>
          <p:nvPr/>
        </p:nvCxnSpPr>
        <p:spPr>
          <a:xfrm>
            <a:off x="9968484" y="3970004"/>
            <a:ext cx="1029939" cy="480030"/>
          </a:xfrm>
          <a:prstGeom prst="straightConnector1">
            <a:avLst/>
          </a:prstGeom>
          <a:ln w="25400">
            <a:solidFill>
              <a:schemeClr val="accent6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572751E1-2C74-FED2-5D5B-1FB141412AFB}"/>
              </a:ext>
            </a:extLst>
          </p:cNvPr>
          <p:cNvSpPr txBox="1"/>
          <p:nvPr/>
        </p:nvSpPr>
        <p:spPr>
          <a:xfrm>
            <a:off x="8867659" y="4103355"/>
            <a:ext cx="1699155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"/>
              </a:lnSpc>
            </a:pP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PDCD1-related immune exhaustion</a:t>
            </a:r>
          </a:p>
          <a:p>
            <a:pPr>
              <a:lnSpc>
                <a:spcPts val="800"/>
              </a:lnSpc>
            </a:pP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DOI:</a:t>
            </a: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10.3390/v16050707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(PubMed) </a:t>
            </a:r>
            <a:endParaRPr lang="zh-CN" altLang="zh-CN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080C877F-F28C-7745-2869-8089F7BCC430}"/>
              </a:ext>
            </a:extLst>
          </p:cNvPr>
          <p:cNvSpPr txBox="1"/>
          <p:nvPr/>
        </p:nvSpPr>
        <p:spPr>
          <a:xfrm>
            <a:off x="10443082" y="4093928"/>
            <a:ext cx="1500962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"/>
              </a:lnSpc>
            </a:pP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PDCD1 downregulated in HCC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delta=-2.6507, n=371 (TCGA)</a:t>
            </a:r>
            <a:endParaRPr lang="zh-CN" altLang="zh-CN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89F7992B-1C00-E5A7-9FFB-63DA2637B2B5}"/>
              </a:ext>
            </a:extLst>
          </p:cNvPr>
          <p:cNvCxnSpPr>
            <a:cxnSpLocks/>
            <a:stCxn id="138" idx="6"/>
            <a:endCxn id="140" idx="2"/>
          </p:cNvCxnSpPr>
          <p:nvPr/>
        </p:nvCxnSpPr>
        <p:spPr>
          <a:xfrm flipV="1">
            <a:off x="9815564" y="4518305"/>
            <a:ext cx="1154061" cy="1492"/>
          </a:xfrm>
          <a:prstGeom prst="straightConnector1">
            <a:avLst/>
          </a:prstGeom>
          <a:ln w="25400">
            <a:solidFill>
              <a:schemeClr val="accent4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D45BA54A-6851-4617-B888-F3C5C4AE7AD3}"/>
              </a:ext>
            </a:extLst>
          </p:cNvPr>
          <p:cNvSpPr txBox="1"/>
          <p:nvPr/>
        </p:nvSpPr>
        <p:spPr>
          <a:xfrm>
            <a:off x="10174872" y="3945804"/>
            <a:ext cx="8739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DERIVED_FROM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EB50E354-CBF7-DC74-B609-915B617479F6}"/>
              </a:ext>
            </a:extLst>
          </p:cNvPr>
          <p:cNvSpPr txBox="1"/>
          <p:nvPr/>
        </p:nvSpPr>
        <p:spPr>
          <a:xfrm>
            <a:off x="9824646" y="4490090"/>
            <a:ext cx="10583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/ REFINES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214D292A-C644-579F-88F2-73E2136B4AEB}"/>
              </a:ext>
            </a:extLst>
          </p:cNvPr>
          <p:cNvSpPr/>
          <p:nvPr/>
        </p:nvSpPr>
        <p:spPr>
          <a:xfrm>
            <a:off x="9091887" y="4773938"/>
            <a:ext cx="196654" cy="1931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4AC3707-4383-E049-0ECE-2B2D1B96846A}"/>
              </a:ext>
            </a:extLst>
          </p:cNvPr>
          <p:cNvSpPr txBox="1"/>
          <p:nvPr/>
        </p:nvSpPr>
        <p:spPr>
          <a:xfrm>
            <a:off x="8762816" y="4590092"/>
            <a:ext cx="13548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Gene: PDCD1, HGNC:8760</a:t>
            </a:r>
          </a:p>
        </p:txBody>
      </p: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605D6B76-F283-BCBC-7EBD-8E8B540C9A19}"/>
              </a:ext>
            </a:extLst>
          </p:cNvPr>
          <p:cNvCxnSpPr>
            <a:cxnSpLocks/>
            <a:stCxn id="138" idx="3"/>
            <a:endCxn id="173" idx="7"/>
          </p:cNvCxnSpPr>
          <p:nvPr/>
        </p:nvCxnSpPr>
        <p:spPr>
          <a:xfrm flipH="1">
            <a:off x="9259742" y="4588069"/>
            <a:ext cx="387966" cy="214149"/>
          </a:xfrm>
          <a:prstGeom prst="straightConnector1">
            <a:avLst/>
          </a:prstGeom>
          <a:ln w="25400">
            <a:solidFill>
              <a:schemeClr val="bg2">
                <a:lumMod val="2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B90EE15D-F85A-02B5-4276-668504E984AA}"/>
              </a:ext>
            </a:extLst>
          </p:cNvPr>
          <p:cNvSpPr txBox="1"/>
          <p:nvPr/>
        </p:nvSpPr>
        <p:spPr>
          <a:xfrm>
            <a:off x="8979499" y="4460119"/>
            <a:ext cx="6799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LINKED_TO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521B4121-926D-8D94-4A04-5E1035C01265}"/>
              </a:ext>
            </a:extLst>
          </p:cNvPr>
          <p:cNvSpPr/>
          <p:nvPr/>
        </p:nvSpPr>
        <p:spPr>
          <a:xfrm>
            <a:off x="11415634" y="4773938"/>
            <a:ext cx="196654" cy="1931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AF497AEF-7AB2-C100-4859-61A09C78E7D5}"/>
              </a:ext>
            </a:extLst>
          </p:cNvPr>
          <p:cNvSpPr txBox="1"/>
          <p:nvPr/>
        </p:nvSpPr>
        <p:spPr>
          <a:xfrm>
            <a:off x="10666007" y="4593536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Cancer: HCC, DOID:684</a:t>
            </a:r>
          </a:p>
        </p:txBody>
      </p: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A0568F14-AB32-45EC-0CF5-01FC703E0F50}"/>
              </a:ext>
            </a:extLst>
          </p:cNvPr>
          <p:cNvCxnSpPr>
            <a:cxnSpLocks/>
            <a:stCxn id="140" idx="5"/>
            <a:endCxn id="179" idx="1"/>
          </p:cNvCxnSpPr>
          <p:nvPr/>
        </p:nvCxnSpPr>
        <p:spPr>
          <a:xfrm>
            <a:off x="11137479" y="4586577"/>
            <a:ext cx="306954" cy="215641"/>
          </a:xfrm>
          <a:prstGeom prst="straightConnector1">
            <a:avLst/>
          </a:prstGeom>
          <a:ln w="25400">
            <a:solidFill>
              <a:schemeClr val="bg2">
                <a:lumMod val="2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0B47DA61-1966-6C92-A9CA-02491EAE8960}"/>
              </a:ext>
            </a:extLst>
          </p:cNvPr>
          <p:cNvSpPr txBox="1"/>
          <p:nvPr/>
        </p:nvSpPr>
        <p:spPr>
          <a:xfrm>
            <a:off x="11120966" y="4467783"/>
            <a:ext cx="6799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LINKED_TO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881A653C-6887-4411-4E31-AEE558D28FBE}"/>
              </a:ext>
            </a:extLst>
          </p:cNvPr>
          <p:cNvSpPr/>
          <p:nvPr/>
        </p:nvSpPr>
        <p:spPr>
          <a:xfrm>
            <a:off x="9625553" y="5090092"/>
            <a:ext cx="196654" cy="193100"/>
          </a:xfrm>
          <a:prstGeom prst="ellipse">
            <a:avLst/>
          </a:prstGeom>
          <a:solidFill>
            <a:srgbClr val="D88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68501C2A-B5C3-881B-A902-6A05116ACDE6}"/>
              </a:ext>
            </a:extLst>
          </p:cNvPr>
          <p:cNvSpPr/>
          <p:nvPr/>
        </p:nvSpPr>
        <p:spPr>
          <a:xfrm>
            <a:off x="10964762" y="5097315"/>
            <a:ext cx="196654" cy="193100"/>
          </a:xfrm>
          <a:prstGeom prst="ellipse">
            <a:avLst/>
          </a:prstGeom>
          <a:solidFill>
            <a:srgbClr val="D88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CC90644A-13EE-CDD0-CB4C-9ED5A6544F73}"/>
              </a:ext>
            </a:extLst>
          </p:cNvPr>
          <p:cNvCxnSpPr>
            <a:cxnSpLocks/>
            <a:stCxn id="185" idx="1"/>
            <a:endCxn id="173" idx="5"/>
          </p:cNvCxnSpPr>
          <p:nvPr/>
        </p:nvCxnSpPr>
        <p:spPr>
          <a:xfrm flipH="1" flipV="1">
            <a:off x="9259742" y="4938759"/>
            <a:ext cx="394610" cy="179612"/>
          </a:xfrm>
          <a:prstGeom prst="straightConnector1">
            <a:avLst/>
          </a:prstGeom>
          <a:ln w="25400">
            <a:solidFill>
              <a:schemeClr val="bg2">
                <a:lumMod val="2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F2976DF3-4C28-A3AA-F489-22E3D00CB876}"/>
              </a:ext>
            </a:extLst>
          </p:cNvPr>
          <p:cNvSpPr txBox="1"/>
          <p:nvPr/>
        </p:nvSpPr>
        <p:spPr>
          <a:xfrm>
            <a:off x="8821645" y="4958733"/>
            <a:ext cx="6799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LINKED_TO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直线箭头连接符 192">
            <a:extLst>
              <a:ext uri="{FF2B5EF4-FFF2-40B4-BE49-F238E27FC236}">
                <a16:creationId xmlns:a16="http://schemas.microsoft.com/office/drawing/2014/main" id="{BCA77CFC-FD44-4B96-04DF-F1E1ECF897ED}"/>
              </a:ext>
            </a:extLst>
          </p:cNvPr>
          <p:cNvCxnSpPr>
            <a:cxnSpLocks/>
            <a:stCxn id="187" idx="7"/>
            <a:endCxn id="179" idx="2"/>
          </p:cNvCxnSpPr>
          <p:nvPr/>
        </p:nvCxnSpPr>
        <p:spPr>
          <a:xfrm flipV="1">
            <a:off x="11132618" y="4870488"/>
            <a:ext cx="283017" cy="255106"/>
          </a:xfrm>
          <a:prstGeom prst="straightConnector1">
            <a:avLst/>
          </a:prstGeom>
          <a:ln w="25400">
            <a:solidFill>
              <a:schemeClr val="bg2">
                <a:lumMod val="2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57F1D605-9EBC-11EE-CA8F-5B6FFAC550A8}"/>
              </a:ext>
            </a:extLst>
          </p:cNvPr>
          <p:cNvSpPr txBox="1"/>
          <p:nvPr/>
        </p:nvSpPr>
        <p:spPr>
          <a:xfrm>
            <a:off x="11203472" y="4932136"/>
            <a:ext cx="6799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LINKED_TO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F867CE0F-DE7E-6138-861D-AE78903B3614}"/>
              </a:ext>
            </a:extLst>
          </p:cNvPr>
          <p:cNvSpPr txBox="1"/>
          <p:nvPr/>
        </p:nvSpPr>
        <p:spPr>
          <a:xfrm>
            <a:off x="9717235" y="4868764"/>
            <a:ext cx="1079918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"/>
              </a:lnSpc>
            </a:pP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HBV-HCC immune exhaustion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(PubMed) </a:t>
            </a:r>
            <a:endParaRPr lang="zh-CN" altLang="zh-CN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5E7EEC-BDD9-EBA7-DE6E-548402EC6CB7}"/>
              </a:ext>
            </a:extLst>
          </p:cNvPr>
          <p:cNvSpPr txBox="1"/>
          <p:nvPr/>
        </p:nvSpPr>
        <p:spPr>
          <a:xfrm>
            <a:off x="10069901" y="5089546"/>
            <a:ext cx="986045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"/>
              </a:lnSpc>
            </a:pP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PDCD1 expression signal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(TCGA) </a:t>
            </a:r>
            <a:endParaRPr lang="zh-CN" altLang="zh-CN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B87CF4AE-C600-F4FA-DDE0-1DEEFD21A8B8}"/>
              </a:ext>
            </a:extLst>
          </p:cNvPr>
          <p:cNvSpPr/>
          <p:nvPr/>
        </p:nvSpPr>
        <p:spPr>
          <a:xfrm>
            <a:off x="8993560" y="5266982"/>
            <a:ext cx="196654" cy="1931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02675702-A699-5C1C-F222-192B5E190556}"/>
              </a:ext>
            </a:extLst>
          </p:cNvPr>
          <p:cNvSpPr txBox="1"/>
          <p:nvPr/>
        </p:nvSpPr>
        <p:spPr>
          <a:xfrm>
            <a:off x="9118421" y="5310808"/>
            <a:ext cx="1234750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"/>
              </a:lnSpc>
            </a:pP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HBV-associated HCC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cell dysfunction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n=6931</a:t>
            </a:r>
            <a:endParaRPr lang="zh-CN" altLang="zh-CN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750C2131-103E-02A1-E4BA-FFDFEDC47D24}"/>
              </a:ext>
            </a:extLst>
          </p:cNvPr>
          <p:cNvSpPr/>
          <p:nvPr/>
        </p:nvSpPr>
        <p:spPr>
          <a:xfrm>
            <a:off x="11534266" y="5260025"/>
            <a:ext cx="196654" cy="1931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D5187A26-C309-9F3E-3851-97EBB408663C}"/>
              </a:ext>
            </a:extLst>
          </p:cNvPr>
          <p:cNvCxnSpPr>
            <a:cxnSpLocks/>
            <a:stCxn id="138" idx="4"/>
            <a:endCxn id="185" idx="0"/>
          </p:cNvCxnSpPr>
          <p:nvPr/>
        </p:nvCxnSpPr>
        <p:spPr>
          <a:xfrm>
            <a:off x="9717236" y="4616348"/>
            <a:ext cx="6644" cy="473745"/>
          </a:xfrm>
          <a:prstGeom prst="straightConnector1">
            <a:avLst/>
          </a:prstGeom>
          <a:ln w="25400">
            <a:solidFill>
              <a:schemeClr val="accent6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4C2F2B04-67C2-2310-297B-9779835408A9}"/>
              </a:ext>
            </a:extLst>
          </p:cNvPr>
          <p:cNvCxnSpPr>
            <a:cxnSpLocks/>
            <a:stCxn id="140" idx="4"/>
            <a:endCxn id="187" idx="0"/>
          </p:cNvCxnSpPr>
          <p:nvPr/>
        </p:nvCxnSpPr>
        <p:spPr>
          <a:xfrm flipH="1">
            <a:off x="11063089" y="4614855"/>
            <a:ext cx="4862" cy="482460"/>
          </a:xfrm>
          <a:prstGeom prst="straightConnector1">
            <a:avLst/>
          </a:prstGeom>
          <a:ln w="25400">
            <a:solidFill>
              <a:schemeClr val="accent6">
                <a:lumMod val="50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文本框 220">
            <a:extLst>
              <a:ext uri="{FF2B5EF4-FFF2-40B4-BE49-F238E27FC236}">
                <a16:creationId xmlns:a16="http://schemas.microsoft.com/office/drawing/2014/main" id="{E57B0291-8677-93A8-F72F-5F4A6D4D19FD}"/>
              </a:ext>
            </a:extLst>
          </p:cNvPr>
          <p:cNvSpPr txBox="1"/>
          <p:nvPr/>
        </p:nvSpPr>
        <p:spPr>
          <a:xfrm>
            <a:off x="10264238" y="5302891"/>
            <a:ext cx="138424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"/>
              </a:lnSpc>
            </a:pP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tumor purity Q4 vs low Q1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n=371</a:t>
            </a:r>
            <a:r>
              <a:rPr lang="en-US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93 vs 92 groups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F1635710-1C7C-76B4-D195-4E0FB2E2E91C}"/>
              </a:ext>
            </a:extLst>
          </p:cNvPr>
          <p:cNvSpPr txBox="1"/>
          <p:nvPr/>
        </p:nvSpPr>
        <p:spPr>
          <a:xfrm>
            <a:off x="9234200" y="4745936"/>
            <a:ext cx="8739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DERIVED_FROM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B678FC74-FEF3-6D5D-0519-BC802DD31A5D}"/>
              </a:ext>
            </a:extLst>
          </p:cNvPr>
          <p:cNvSpPr txBox="1"/>
          <p:nvPr/>
        </p:nvSpPr>
        <p:spPr>
          <a:xfrm>
            <a:off x="10561445" y="4736842"/>
            <a:ext cx="8739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DERIVED_FROM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直线箭头连接符 223">
            <a:extLst>
              <a:ext uri="{FF2B5EF4-FFF2-40B4-BE49-F238E27FC236}">
                <a16:creationId xmlns:a16="http://schemas.microsoft.com/office/drawing/2014/main" id="{E62C67AE-61FA-235F-0E1A-98BAA6CDFFF7}"/>
              </a:ext>
            </a:extLst>
          </p:cNvPr>
          <p:cNvCxnSpPr>
            <a:cxnSpLocks/>
          </p:cNvCxnSpPr>
          <p:nvPr/>
        </p:nvCxnSpPr>
        <p:spPr>
          <a:xfrm flipH="1">
            <a:off x="9190215" y="5234252"/>
            <a:ext cx="435339" cy="82756"/>
          </a:xfrm>
          <a:prstGeom prst="straightConnector1">
            <a:avLst/>
          </a:prstGeom>
          <a:ln w="25400">
            <a:solidFill>
              <a:schemeClr val="accent1">
                <a:lumMod val="7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线箭头连接符 227">
            <a:extLst>
              <a:ext uri="{FF2B5EF4-FFF2-40B4-BE49-F238E27FC236}">
                <a16:creationId xmlns:a16="http://schemas.microsoft.com/office/drawing/2014/main" id="{ED27D93D-E101-467B-6987-EC27BDB128DD}"/>
              </a:ext>
            </a:extLst>
          </p:cNvPr>
          <p:cNvCxnSpPr>
            <a:cxnSpLocks/>
          </p:cNvCxnSpPr>
          <p:nvPr/>
        </p:nvCxnSpPr>
        <p:spPr>
          <a:xfrm>
            <a:off x="11149899" y="5249753"/>
            <a:ext cx="377146" cy="99623"/>
          </a:xfrm>
          <a:prstGeom prst="straightConnector1">
            <a:avLst/>
          </a:prstGeom>
          <a:ln w="25400">
            <a:solidFill>
              <a:schemeClr val="accent1">
                <a:lumMod val="75000"/>
                <a:alpha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C976405D-5ECF-F562-3040-8FC04522050B}"/>
              </a:ext>
            </a:extLst>
          </p:cNvPr>
          <p:cNvSpPr txBox="1"/>
          <p:nvPr/>
        </p:nvSpPr>
        <p:spPr>
          <a:xfrm>
            <a:off x="8831747" y="5102060"/>
            <a:ext cx="7938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OBSERVED_IN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B93AE42A-8C71-6295-6601-7B29163E5538}"/>
              </a:ext>
            </a:extLst>
          </p:cNvPr>
          <p:cNvSpPr txBox="1"/>
          <p:nvPr/>
        </p:nvSpPr>
        <p:spPr>
          <a:xfrm>
            <a:off x="11099912" y="5108933"/>
            <a:ext cx="7938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OBSERVED_IN</a:t>
            </a:r>
            <a:endParaRPr kumimoji="1" lang="zh-CN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F184E3DA-B0C5-DFEB-58D2-F701C600B4F9}"/>
              </a:ext>
            </a:extLst>
          </p:cNvPr>
          <p:cNvSpPr txBox="1"/>
          <p:nvPr/>
        </p:nvSpPr>
        <p:spPr>
          <a:xfrm>
            <a:off x="9610963" y="5533387"/>
            <a:ext cx="1664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 Example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1" name="图片 250">
            <a:extLst>
              <a:ext uri="{FF2B5EF4-FFF2-40B4-BE49-F238E27FC236}">
                <a16:creationId xmlns:a16="http://schemas.microsoft.com/office/drawing/2014/main" id="{B459E9EC-3D45-2F16-BFE8-2A8800096DB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4230" y="3126137"/>
            <a:ext cx="296287" cy="296287"/>
          </a:xfrm>
          <a:prstGeom prst="rect">
            <a:avLst/>
          </a:prstGeom>
        </p:spPr>
      </p:pic>
      <p:cxnSp>
        <p:nvCxnSpPr>
          <p:cNvPr id="253" name="肘形连接符 252">
            <a:extLst>
              <a:ext uri="{FF2B5EF4-FFF2-40B4-BE49-F238E27FC236}">
                <a16:creationId xmlns:a16="http://schemas.microsoft.com/office/drawing/2014/main" id="{A47B029A-6A7A-A0AB-C2C0-A55B881B6CB2}"/>
              </a:ext>
            </a:extLst>
          </p:cNvPr>
          <p:cNvCxnSpPr>
            <a:cxnSpLocks/>
            <a:stCxn id="76" idx="3"/>
            <a:endCxn id="111" idx="1"/>
          </p:cNvCxnSpPr>
          <p:nvPr/>
        </p:nvCxnSpPr>
        <p:spPr>
          <a:xfrm flipV="1">
            <a:off x="8435921" y="3563093"/>
            <a:ext cx="295998" cy="15330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圆角矩形 255">
            <a:extLst>
              <a:ext uri="{FF2B5EF4-FFF2-40B4-BE49-F238E27FC236}">
                <a16:creationId xmlns:a16="http://schemas.microsoft.com/office/drawing/2014/main" id="{4812ED6B-09C3-F917-1E04-088D5537471C}"/>
              </a:ext>
            </a:extLst>
          </p:cNvPr>
          <p:cNvSpPr/>
          <p:nvPr/>
        </p:nvSpPr>
        <p:spPr>
          <a:xfrm>
            <a:off x="12174000" y="1175519"/>
            <a:ext cx="3981099" cy="4785729"/>
          </a:xfrm>
          <a:prstGeom prst="roundRect">
            <a:avLst>
              <a:gd name="adj" fmla="val 3314"/>
            </a:avLst>
          </a:prstGeom>
          <a:noFill/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B10F0132-83DA-5A90-1808-4853B5FADE81}"/>
              </a:ext>
            </a:extLst>
          </p:cNvPr>
          <p:cNvSpPr txBox="1"/>
          <p:nvPr/>
        </p:nvSpPr>
        <p:spPr>
          <a:xfrm>
            <a:off x="12606660" y="1189532"/>
            <a:ext cx="3031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圆角矩形 257">
            <a:extLst>
              <a:ext uri="{FF2B5EF4-FFF2-40B4-BE49-F238E27FC236}">
                <a16:creationId xmlns:a16="http://schemas.microsoft.com/office/drawing/2014/main" id="{971CB67E-1712-79DE-A83B-C73E6A9B7C71}"/>
              </a:ext>
            </a:extLst>
          </p:cNvPr>
          <p:cNvSpPr/>
          <p:nvPr/>
        </p:nvSpPr>
        <p:spPr>
          <a:xfrm>
            <a:off x="12276221" y="1850491"/>
            <a:ext cx="3787346" cy="1028377"/>
          </a:xfrm>
          <a:prstGeom prst="roundRect">
            <a:avLst>
              <a:gd name="adj" fmla="val 480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ABFEF990-06D8-6CB8-3F13-364023277752}"/>
              </a:ext>
            </a:extLst>
          </p:cNvPr>
          <p:cNvSpPr txBox="1"/>
          <p:nvPr/>
        </p:nvSpPr>
        <p:spPr>
          <a:xfrm>
            <a:off x="13409868" y="1841394"/>
            <a:ext cx="1537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endParaRPr lang="zh-CN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圆角矩形 275">
            <a:extLst>
              <a:ext uri="{FF2B5EF4-FFF2-40B4-BE49-F238E27FC236}">
                <a16:creationId xmlns:a16="http://schemas.microsoft.com/office/drawing/2014/main" id="{F1D1BF0D-1855-5007-20CA-F913F1CD803B}"/>
              </a:ext>
            </a:extLst>
          </p:cNvPr>
          <p:cNvSpPr/>
          <p:nvPr/>
        </p:nvSpPr>
        <p:spPr>
          <a:xfrm>
            <a:off x="13841891" y="2145380"/>
            <a:ext cx="635113" cy="328559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/>
            <a:r>
              <a:rPr kumimoji="1" lang="en-US" altLang="zh-CN" sz="10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Sources</a:t>
            </a:r>
            <a:endParaRPr kumimoji="1" lang="zh-CN" altLang="en-US" sz="10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圆角矩形 280">
            <a:extLst>
              <a:ext uri="{FF2B5EF4-FFF2-40B4-BE49-F238E27FC236}">
                <a16:creationId xmlns:a16="http://schemas.microsoft.com/office/drawing/2014/main" id="{62C703FB-2D72-5945-D304-70ABD16FBBCA}"/>
              </a:ext>
            </a:extLst>
          </p:cNvPr>
          <p:cNvSpPr/>
          <p:nvPr/>
        </p:nvSpPr>
        <p:spPr>
          <a:xfrm>
            <a:off x="12277178" y="2992152"/>
            <a:ext cx="3787346" cy="597782"/>
          </a:xfrm>
          <a:prstGeom prst="roundRect">
            <a:avLst>
              <a:gd name="adj" fmla="val 480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5EFE95C0-3996-FE51-471B-90CBB080BF97}"/>
              </a:ext>
            </a:extLst>
          </p:cNvPr>
          <p:cNvSpPr txBox="1"/>
          <p:nvPr/>
        </p:nvSpPr>
        <p:spPr>
          <a:xfrm>
            <a:off x="13586736" y="2986283"/>
            <a:ext cx="1245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Pipeline</a:t>
            </a:r>
            <a:endParaRPr lang="zh-CN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4" name="图片 283">
            <a:extLst>
              <a:ext uri="{FF2B5EF4-FFF2-40B4-BE49-F238E27FC236}">
                <a16:creationId xmlns:a16="http://schemas.microsoft.com/office/drawing/2014/main" id="{44762268-F573-A524-1ED3-390A22EF485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399768" y="3292629"/>
            <a:ext cx="239037" cy="239037"/>
          </a:xfrm>
          <a:prstGeom prst="rect">
            <a:avLst/>
          </a:prstGeom>
        </p:spPr>
      </p:pic>
      <p:sp>
        <p:nvSpPr>
          <p:cNvPr id="285" name="圆角矩形 284">
            <a:extLst>
              <a:ext uri="{FF2B5EF4-FFF2-40B4-BE49-F238E27FC236}">
                <a16:creationId xmlns:a16="http://schemas.microsoft.com/office/drawing/2014/main" id="{F03B0DB9-0B25-E681-F1A7-2B15C15A5C25}"/>
              </a:ext>
            </a:extLst>
          </p:cNvPr>
          <p:cNvSpPr/>
          <p:nvPr/>
        </p:nvSpPr>
        <p:spPr>
          <a:xfrm>
            <a:off x="13540225" y="3281726"/>
            <a:ext cx="647133" cy="252501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Top-K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6" name="圆角矩形 285">
            <a:extLst>
              <a:ext uri="{FF2B5EF4-FFF2-40B4-BE49-F238E27FC236}">
                <a16:creationId xmlns:a16="http://schemas.microsoft.com/office/drawing/2014/main" id="{7135372E-2CCB-0F17-BC85-635257E1468C}"/>
              </a:ext>
            </a:extLst>
          </p:cNvPr>
          <p:cNvSpPr/>
          <p:nvPr/>
        </p:nvSpPr>
        <p:spPr>
          <a:xfrm>
            <a:off x="12772527" y="3278854"/>
            <a:ext cx="647133" cy="252501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BM25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7" name="圆角矩形 286">
            <a:extLst>
              <a:ext uri="{FF2B5EF4-FFF2-40B4-BE49-F238E27FC236}">
                <a16:creationId xmlns:a16="http://schemas.microsoft.com/office/drawing/2014/main" id="{0EFFA335-4CFF-8188-47C1-5450C88547D1}"/>
              </a:ext>
            </a:extLst>
          </p:cNvPr>
          <p:cNvSpPr/>
          <p:nvPr/>
        </p:nvSpPr>
        <p:spPr>
          <a:xfrm>
            <a:off x="14304466" y="3278854"/>
            <a:ext cx="700838" cy="252501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context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8" name="圆角矩形 287">
            <a:extLst>
              <a:ext uri="{FF2B5EF4-FFF2-40B4-BE49-F238E27FC236}">
                <a16:creationId xmlns:a16="http://schemas.microsoft.com/office/drawing/2014/main" id="{AEA0F2F3-CAC2-1FD1-A13B-F3B34E6DCD5F}"/>
              </a:ext>
            </a:extLst>
          </p:cNvPr>
          <p:cNvSpPr/>
          <p:nvPr/>
        </p:nvSpPr>
        <p:spPr>
          <a:xfrm>
            <a:off x="15125655" y="3269976"/>
            <a:ext cx="647133" cy="252501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endParaRPr kumimoji="1" lang="zh-CN" altLang="en-US" sz="1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9" name="圆角矩形 288">
            <a:extLst>
              <a:ext uri="{FF2B5EF4-FFF2-40B4-BE49-F238E27FC236}">
                <a16:creationId xmlns:a16="http://schemas.microsoft.com/office/drawing/2014/main" id="{26B0F257-20F5-45D3-9CBA-6AB18B6B3240}"/>
              </a:ext>
            </a:extLst>
          </p:cNvPr>
          <p:cNvSpPr/>
          <p:nvPr/>
        </p:nvSpPr>
        <p:spPr>
          <a:xfrm>
            <a:off x="12269258" y="3691799"/>
            <a:ext cx="3787346" cy="2157457"/>
          </a:xfrm>
          <a:prstGeom prst="roundRect">
            <a:avLst>
              <a:gd name="adj" fmla="val 480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146EF83C-2129-C89B-6A3F-0D0B235A73E4}"/>
              </a:ext>
            </a:extLst>
          </p:cNvPr>
          <p:cNvSpPr txBox="1"/>
          <p:nvPr/>
        </p:nvSpPr>
        <p:spPr>
          <a:xfrm>
            <a:off x="13231443" y="3682914"/>
            <a:ext cx="1964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Evaluation</a:t>
            </a:r>
            <a:endParaRPr lang="zh-CN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圆角矩形 290">
            <a:extLst>
              <a:ext uri="{FF2B5EF4-FFF2-40B4-BE49-F238E27FC236}">
                <a16:creationId xmlns:a16="http://schemas.microsoft.com/office/drawing/2014/main" id="{41B9B7CE-0722-9A12-8CBA-2D100092EBC9}"/>
              </a:ext>
            </a:extLst>
          </p:cNvPr>
          <p:cNvSpPr/>
          <p:nvPr/>
        </p:nvSpPr>
        <p:spPr>
          <a:xfrm>
            <a:off x="12348984" y="3983349"/>
            <a:ext cx="3638343" cy="923187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D66BACA5-70FA-DA2F-0A71-2DD42C8D0C0C}"/>
              </a:ext>
            </a:extLst>
          </p:cNvPr>
          <p:cNvSpPr txBox="1"/>
          <p:nvPr/>
        </p:nvSpPr>
        <p:spPr>
          <a:xfrm>
            <a:off x="12952722" y="3983350"/>
            <a:ext cx="27478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External Grounded Cancer Benchmark</a:t>
            </a:r>
            <a:endParaRPr kumimoji="1" lang="zh-CN" altLang="en-US" sz="1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88ACDD39-6A0C-2E66-EEEC-9CFDFF14320A}"/>
              </a:ext>
            </a:extLst>
          </p:cNvPr>
          <p:cNvSpPr txBox="1"/>
          <p:nvPr/>
        </p:nvSpPr>
        <p:spPr>
          <a:xfrm>
            <a:off x="12730041" y="4191390"/>
            <a:ext cx="3215688" cy="20005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lIns="36000" rIns="0" rtlCol="0">
            <a:spAutoFit/>
          </a:bodyPr>
          <a:lstStyle/>
          <a:p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Gold</a:t>
            </a:r>
            <a:r>
              <a:rPr kumimoji="1" lang="zh-CN" altLang="en-US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Sources: </a:t>
            </a:r>
            <a:r>
              <a:rPr kumimoji="1" lang="en-US" altLang="zh-CN" sz="7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ClViC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kumimoji="1" lang="en-US" altLang="zh-CN" sz="7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ClinVar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kumimoji="1" lang="en-US" altLang="zh-CN" sz="7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IntOGen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/ Open Targets / SIGOR / </a:t>
            </a:r>
            <a:r>
              <a:rPr kumimoji="1" lang="en-US" altLang="zh-CN" sz="7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BioASQ</a:t>
            </a:r>
            <a:endParaRPr kumimoji="1" lang="zh-CN" altLang="en-US" sz="7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97" name="图片 296">
            <a:extLst>
              <a:ext uri="{FF2B5EF4-FFF2-40B4-BE49-F238E27FC236}">
                <a16:creationId xmlns:a16="http://schemas.microsoft.com/office/drawing/2014/main" id="{539E0F6C-B364-4743-6C64-E3FCA1EE356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443985" y="4167424"/>
            <a:ext cx="186404" cy="186404"/>
          </a:xfrm>
          <a:prstGeom prst="rect">
            <a:avLst/>
          </a:prstGeom>
        </p:spPr>
      </p:pic>
      <p:sp>
        <p:nvSpPr>
          <p:cNvPr id="298" name="文本框 297">
            <a:extLst>
              <a:ext uri="{FF2B5EF4-FFF2-40B4-BE49-F238E27FC236}">
                <a16:creationId xmlns:a16="http://schemas.microsoft.com/office/drawing/2014/main" id="{E14FC3F3-3E7F-CAF4-67E1-4B1AD529A636}"/>
              </a:ext>
            </a:extLst>
          </p:cNvPr>
          <p:cNvSpPr txBox="1"/>
          <p:nvPr/>
        </p:nvSpPr>
        <p:spPr>
          <a:xfrm>
            <a:off x="12731325" y="4429441"/>
            <a:ext cx="3214404" cy="20005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lIns="36000" rIns="0" rtlCol="0">
            <a:spAutoFit/>
          </a:bodyPr>
          <a:lstStyle/>
          <a:p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Automatic</a:t>
            </a:r>
            <a:r>
              <a:rPr kumimoji="1" lang="zh-CN" altLang="en-US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kumimoji="1" lang="zh-CN" altLang="en-US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Construction: 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normalization / label mapping / balancing</a:t>
            </a:r>
            <a:endParaRPr kumimoji="1" lang="zh-CN" altLang="en-US" sz="7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00" name="图片 299">
            <a:extLst>
              <a:ext uri="{FF2B5EF4-FFF2-40B4-BE49-F238E27FC236}">
                <a16:creationId xmlns:a16="http://schemas.microsoft.com/office/drawing/2014/main" id="{547C472D-372E-41EA-49AD-6FB0802BACD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439894" y="4386907"/>
            <a:ext cx="222978" cy="222978"/>
          </a:xfrm>
          <a:prstGeom prst="rect">
            <a:avLst/>
          </a:prstGeom>
        </p:spPr>
      </p:pic>
      <p:sp>
        <p:nvSpPr>
          <p:cNvPr id="301" name="文本框 300">
            <a:extLst>
              <a:ext uri="{FF2B5EF4-FFF2-40B4-BE49-F238E27FC236}">
                <a16:creationId xmlns:a16="http://schemas.microsoft.com/office/drawing/2014/main" id="{4946A0A1-EBC2-13EC-37A7-5BB77D766786}"/>
              </a:ext>
            </a:extLst>
          </p:cNvPr>
          <p:cNvSpPr txBox="1"/>
          <p:nvPr/>
        </p:nvSpPr>
        <p:spPr>
          <a:xfrm>
            <a:off x="12728325" y="4662475"/>
            <a:ext cx="3210370" cy="20005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lIns="36000" rIns="0" rtlCol="0">
            <a:spAutoFit/>
          </a:bodyPr>
          <a:lstStyle/>
          <a:p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Audit</a:t>
            </a:r>
            <a:r>
              <a:rPr kumimoji="1" lang="zh-CN" altLang="en-US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kumimoji="1" lang="zh-CN" altLang="en-US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Review:</a:t>
            </a:r>
            <a:r>
              <a:rPr kumimoji="1" lang="zh-CN" altLang="en-US" sz="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quality</a:t>
            </a:r>
            <a:r>
              <a:rPr kumimoji="1" lang="zh-CN" altLang="en-US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audit</a:t>
            </a:r>
            <a:r>
              <a:rPr kumimoji="1" lang="zh-CN" altLang="en-US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expert</a:t>
            </a:r>
            <a:r>
              <a:rPr kumimoji="1" lang="zh-CN" altLang="en-US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7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validation</a:t>
            </a:r>
            <a:endParaRPr kumimoji="1" lang="zh-CN" altLang="en-US" sz="7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03" name="图片 302">
            <a:extLst>
              <a:ext uri="{FF2B5EF4-FFF2-40B4-BE49-F238E27FC236}">
                <a16:creationId xmlns:a16="http://schemas.microsoft.com/office/drawing/2014/main" id="{33246709-C765-04DA-79C5-378BC68FA0A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464123" y="4644800"/>
            <a:ext cx="210694" cy="210694"/>
          </a:xfrm>
          <a:prstGeom prst="rect">
            <a:avLst/>
          </a:prstGeom>
        </p:spPr>
      </p:pic>
      <p:sp>
        <p:nvSpPr>
          <p:cNvPr id="304" name="圆角矩形 303">
            <a:extLst>
              <a:ext uri="{FF2B5EF4-FFF2-40B4-BE49-F238E27FC236}">
                <a16:creationId xmlns:a16="http://schemas.microsoft.com/office/drawing/2014/main" id="{69CFA8EF-8C57-406E-BD6F-6937A7264056}"/>
              </a:ext>
            </a:extLst>
          </p:cNvPr>
          <p:cNvSpPr/>
          <p:nvPr/>
        </p:nvSpPr>
        <p:spPr>
          <a:xfrm>
            <a:off x="12353466" y="4997182"/>
            <a:ext cx="3638343" cy="753561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5D4D9007-2704-C09A-35CC-A9B8177352FE}"/>
              </a:ext>
            </a:extLst>
          </p:cNvPr>
          <p:cNvSpPr txBox="1"/>
          <p:nvPr/>
        </p:nvSpPr>
        <p:spPr>
          <a:xfrm>
            <a:off x="13488364" y="4997275"/>
            <a:ext cx="1435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Metrics &amp; Analysis</a:t>
            </a:r>
            <a:endParaRPr kumimoji="1" lang="zh-CN" altLang="en-US" sz="1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46CE49DF-8250-D743-AD5F-360E6A208640}"/>
              </a:ext>
            </a:extLst>
          </p:cNvPr>
          <p:cNvSpPr txBox="1"/>
          <p:nvPr/>
        </p:nvSpPr>
        <p:spPr>
          <a:xfrm>
            <a:off x="12397383" y="5326137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sz="9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Macro-F1</a:t>
            </a:r>
            <a:endParaRPr kumimoji="1" lang="zh-CN" altLang="en-US" sz="9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EBC85D00-5B62-E34B-320A-B39B67F4A824}"/>
              </a:ext>
            </a:extLst>
          </p:cNvPr>
          <p:cNvSpPr txBox="1"/>
          <p:nvPr/>
        </p:nvSpPr>
        <p:spPr>
          <a:xfrm>
            <a:off x="13283186" y="5233526"/>
            <a:ext cx="147187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Evidence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Coverage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Bundle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Retrieval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Evidence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Sufficiency</a:t>
            </a:r>
            <a:endParaRPr kumimoji="1"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FEE701F0-84BE-9566-059F-615F297B74CF}"/>
              </a:ext>
            </a:extLst>
          </p:cNvPr>
          <p:cNvSpPr txBox="1"/>
          <p:nvPr/>
        </p:nvSpPr>
        <p:spPr>
          <a:xfrm>
            <a:off x="14592032" y="5235368"/>
            <a:ext cx="146706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Ablation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Analysis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Robustness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Analysis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kumimoji="1"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Analysis</a:t>
            </a:r>
            <a:endParaRPr kumimoji="1"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0" name="肘形连接符 309">
            <a:extLst>
              <a:ext uri="{FF2B5EF4-FFF2-40B4-BE49-F238E27FC236}">
                <a16:creationId xmlns:a16="http://schemas.microsoft.com/office/drawing/2014/main" id="{07189B71-495F-22FB-26E4-989C90C7FDF5}"/>
              </a:ext>
            </a:extLst>
          </p:cNvPr>
          <p:cNvCxnSpPr>
            <a:cxnSpLocks/>
            <a:stCxn id="137" idx="3"/>
            <a:endCxn id="258" idx="1"/>
          </p:cNvCxnSpPr>
          <p:nvPr/>
        </p:nvCxnSpPr>
        <p:spPr>
          <a:xfrm flipV="1">
            <a:off x="11925190" y="2364680"/>
            <a:ext cx="351031" cy="2417445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9" name="图片 318">
            <a:extLst>
              <a:ext uri="{FF2B5EF4-FFF2-40B4-BE49-F238E27FC236}">
                <a16:creationId xmlns:a16="http://schemas.microsoft.com/office/drawing/2014/main" id="{E2B541A0-2ACC-9B10-772F-74B240D2B1A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81457" y="5059095"/>
            <a:ext cx="246479" cy="246479"/>
          </a:xfrm>
          <a:prstGeom prst="rect">
            <a:avLst/>
          </a:prstGeom>
        </p:spPr>
      </p:pic>
      <p:pic>
        <p:nvPicPr>
          <p:cNvPr id="321" name="图片 320">
            <a:extLst>
              <a:ext uri="{FF2B5EF4-FFF2-40B4-BE49-F238E27FC236}">
                <a16:creationId xmlns:a16="http://schemas.microsoft.com/office/drawing/2014/main" id="{DD9E4ED1-B6F2-9EBA-2123-813A6B5C397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173519" y="5032969"/>
            <a:ext cx="226426" cy="226426"/>
          </a:xfrm>
          <a:prstGeom prst="rect">
            <a:avLst/>
          </a:prstGeom>
        </p:spPr>
      </p:pic>
      <p:pic>
        <p:nvPicPr>
          <p:cNvPr id="324" name="图片 323">
            <a:extLst>
              <a:ext uri="{FF2B5EF4-FFF2-40B4-BE49-F238E27FC236}">
                <a16:creationId xmlns:a16="http://schemas.microsoft.com/office/drawing/2014/main" id="{462D9E54-DB17-1FE8-EA06-0EA6D402561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16200000">
            <a:off x="4982104" y="1265181"/>
            <a:ext cx="412388" cy="412388"/>
          </a:xfrm>
          <a:prstGeom prst="rect">
            <a:avLst/>
          </a:prstGeom>
        </p:spPr>
      </p:pic>
      <p:pic>
        <p:nvPicPr>
          <p:cNvPr id="325" name="图片 324">
            <a:extLst>
              <a:ext uri="{FF2B5EF4-FFF2-40B4-BE49-F238E27FC236}">
                <a16:creationId xmlns:a16="http://schemas.microsoft.com/office/drawing/2014/main" id="{8E835628-14E4-B3C8-A146-C74D59FE547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16200000">
            <a:off x="8428554" y="1258628"/>
            <a:ext cx="412388" cy="412388"/>
          </a:xfrm>
          <a:prstGeom prst="rect">
            <a:avLst/>
          </a:prstGeom>
        </p:spPr>
      </p:pic>
      <p:pic>
        <p:nvPicPr>
          <p:cNvPr id="326" name="图片 325">
            <a:extLst>
              <a:ext uri="{FF2B5EF4-FFF2-40B4-BE49-F238E27FC236}">
                <a16:creationId xmlns:a16="http://schemas.microsoft.com/office/drawing/2014/main" id="{90687436-6B45-E044-476A-2903614F864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16200000">
            <a:off x="11904302" y="1277296"/>
            <a:ext cx="412388" cy="412388"/>
          </a:xfrm>
          <a:prstGeom prst="rect">
            <a:avLst/>
          </a:prstGeom>
        </p:spPr>
      </p:pic>
      <p:sp>
        <p:nvSpPr>
          <p:cNvPr id="332" name="下箭头 331">
            <a:extLst>
              <a:ext uri="{FF2B5EF4-FFF2-40B4-BE49-F238E27FC236}">
                <a16:creationId xmlns:a16="http://schemas.microsoft.com/office/drawing/2014/main" id="{3E8ACE1C-A851-A59C-8A79-F57A65DDAC70}"/>
              </a:ext>
            </a:extLst>
          </p:cNvPr>
          <p:cNvSpPr/>
          <p:nvPr/>
        </p:nvSpPr>
        <p:spPr>
          <a:xfrm>
            <a:off x="14076545" y="2850120"/>
            <a:ext cx="326178" cy="173894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3" name="下箭头 332">
            <a:extLst>
              <a:ext uri="{FF2B5EF4-FFF2-40B4-BE49-F238E27FC236}">
                <a16:creationId xmlns:a16="http://schemas.microsoft.com/office/drawing/2014/main" id="{D054CE7A-A2F2-66DA-46BE-8E61A97C0A54}"/>
              </a:ext>
            </a:extLst>
          </p:cNvPr>
          <p:cNvSpPr/>
          <p:nvPr/>
        </p:nvSpPr>
        <p:spPr>
          <a:xfrm>
            <a:off x="14092655" y="3564122"/>
            <a:ext cx="326178" cy="173894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5" name="下箭头 334">
            <a:extLst>
              <a:ext uri="{FF2B5EF4-FFF2-40B4-BE49-F238E27FC236}">
                <a16:creationId xmlns:a16="http://schemas.microsoft.com/office/drawing/2014/main" id="{6F003E47-E848-6771-782A-E9D14F66A595}"/>
              </a:ext>
            </a:extLst>
          </p:cNvPr>
          <p:cNvSpPr/>
          <p:nvPr/>
        </p:nvSpPr>
        <p:spPr>
          <a:xfrm rot="16200000">
            <a:off x="13415014" y="3319058"/>
            <a:ext cx="154737" cy="203393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6" name="下箭头 335">
            <a:extLst>
              <a:ext uri="{FF2B5EF4-FFF2-40B4-BE49-F238E27FC236}">
                <a16:creationId xmlns:a16="http://schemas.microsoft.com/office/drawing/2014/main" id="{4C490944-4628-E5AD-8CF0-19DA1BAC8749}"/>
              </a:ext>
            </a:extLst>
          </p:cNvPr>
          <p:cNvSpPr/>
          <p:nvPr/>
        </p:nvSpPr>
        <p:spPr>
          <a:xfrm rot="16200000">
            <a:off x="14168305" y="3326553"/>
            <a:ext cx="154737" cy="203393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7" name="下箭头 336">
            <a:extLst>
              <a:ext uri="{FF2B5EF4-FFF2-40B4-BE49-F238E27FC236}">
                <a16:creationId xmlns:a16="http://schemas.microsoft.com/office/drawing/2014/main" id="{6F4B1FFD-F13C-5C3B-2DEE-CF0BDA1135F8}"/>
              </a:ext>
            </a:extLst>
          </p:cNvPr>
          <p:cNvSpPr/>
          <p:nvPr/>
        </p:nvSpPr>
        <p:spPr>
          <a:xfrm rot="16200000">
            <a:off x="14999974" y="3317659"/>
            <a:ext cx="154737" cy="203393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2609485A-6A42-A650-18AD-EF4C18047D67}"/>
              </a:ext>
            </a:extLst>
          </p:cNvPr>
          <p:cNvSpPr txBox="1"/>
          <p:nvPr/>
        </p:nvSpPr>
        <p:spPr>
          <a:xfrm>
            <a:off x="5426186" y="3827678"/>
            <a:ext cx="463836" cy="2419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solid"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</a:t>
            </a:r>
            <a:endParaRPr kumimoji="1" lang="zh-CN" alt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2DCB4ABE-9C12-D41E-1834-C87B9A3A2E97}"/>
              </a:ext>
            </a:extLst>
          </p:cNvPr>
          <p:cNvSpPr txBox="1"/>
          <p:nvPr/>
        </p:nvSpPr>
        <p:spPr>
          <a:xfrm>
            <a:off x="5916540" y="3827467"/>
            <a:ext cx="465439" cy="2419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solid"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Cohort</a:t>
            </a:r>
            <a:endParaRPr kumimoji="1" lang="zh-CN" alt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2A58F7B8-30DC-0FC6-5252-B5B9E89B1000}"/>
              </a:ext>
            </a:extLst>
          </p:cNvPr>
          <p:cNvSpPr txBox="1"/>
          <p:nvPr/>
        </p:nvSpPr>
        <p:spPr>
          <a:xfrm>
            <a:off x="6413844" y="3828393"/>
            <a:ext cx="874205" cy="241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solid"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Study Context</a:t>
            </a:r>
            <a:endParaRPr kumimoji="1" lang="zh-CN" alt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D1570152-3174-63B7-8A46-993DC8B1A986}"/>
              </a:ext>
            </a:extLst>
          </p:cNvPr>
          <p:cNvSpPr txBox="1"/>
          <p:nvPr/>
        </p:nvSpPr>
        <p:spPr>
          <a:xfrm>
            <a:off x="7310225" y="3827231"/>
            <a:ext cx="576046" cy="2419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solid"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Statistics</a:t>
            </a:r>
            <a:endParaRPr kumimoji="1" lang="zh-CN" alt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45102E6F-3CB0-FA82-F2C7-CDA09E9501DB}"/>
              </a:ext>
            </a:extLst>
          </p:cNvPr>
          <p:cNvSpPr txBox="1"/>
          <p:nvPr/>
        </p:nvSpPr>
        <p:spPr>
          <a:xfrm>
            <a:off x="7918604" y="3827231"/>
            <a:ext cx="497499" cy="2419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solid"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kumimoji="1"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Entities</a:t>
            </a:r>
            <a:endParaRPr kumimoji="1" lang="zh-CN" alt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53" name="直线箭头连接符 352">
            <a:extLst>
              <a:ext uri="{FF2B5EF4-FFF2-40B4-BE49-F238E27FC236}">
                <a16:creationId xmlns:a16="http://schemas.microsoft.com/office/drawing/2014/main" id="{9391FC60-5332-51AC-6EE3-02AEA4279F87}"/>
              </a:ext>
            </a:extLst>
          </p:cNvPr>
          <p:cNvCxnSpPr/>
          <p:nvPr/>
        </p:nvCxnSpPr>
        <p:spPr>
          <a:xfrm>
            <a:off x="6595071" y="4956020"/>
            <a:ext cx="0" cy="18288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线箭头连接符 353">
            <a:extLst>
              <a:ext uri="{FF2B5EF4-FFF2-40B4-BE49-F238E27FC236}">
                <a16:creationId xmlns:a16="http://schemas.microsoft.com/office/drawing/2014/main" id="{18DCB23A-1B67-0A42-5F11-9557132F8C34}"/>
              </a:ext>
            </a:extLst>
          </p:cNvPr>
          <p:cNvCxnSpPr>
            <a:cxnSpLocks/>
          </p:cNvCxnSpPr>
          <p:nvPr/>
        </p:nvCxnSpPr>
        <p:spPr>
          <a:xfrm flipV="1">
            <a:off x="7565591" y="5360170"/>
            <a:ext cx="0" cy="150116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257">
            <a:extLst>
              <a:ext uri="{FF2B5EF4-FFF2-40B4-BE49-F238E27FC236}">
                <a16:creationId xmlns:a16="http://schemas.microsoft.com/office/drawing/2014/main" id="{0614AABE-01BF-F576-D15C-F9734F9D6553}"/>
              </a:ext>
            </a:extLst>
          </p:cNvPr>
          <p:cNvSpPr/>
          <p:nvPr/>
        </p:nvSpPr>
        <p:spPr>
          <a:xfrm>
            <a:off x="12496394" y="2115486"/>
            <a:ext cx="1265227" cy="327877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Document Corpus</a:t>
            </a:r>
            <a:endParaRPr lang="en-US" altLang="zh-CN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(flattened passages)</a:t>
            </a:r>
            <a:endParaRPr lang="zh-CN" altLang="zh-CN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60" name="图片 259">
            <a:extLst>
              <a:ext uri="{FF2B5EF4-FFF2-40B4-BE49-F238E27FC236}">
                <a16:creationId xmlns:a16="http://schemas.microsoft.com/office/drawing/2014/main" id="{9185BAB4-E680-F43B-26F6-2B7BD662B74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268845" y="2045935"/>
            <a:ext cx="324815" cy="324815"/>
          </a:xfrm>
          <a:prstGeom prst="rect">
            <a:avLst/>
          </a:prstGeom>
        </p:spPr>
      </p:pic>
      <p:pic>
        <p:nvPicPr>
          <p:cNvPr id="280" name="图片 279">
            <a:extLst>
              <a:ext uri="{FF2B5EF4-FFF2-40B4-BE49-F238E27FC236}">
                <a16:creationId xmlns:a16="http://schemas.microsoft.com/office/drawing/2014/main" id="{660FBBF4-F809-0ECC-1B09-D5C36BB237B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7134284">
            <a:off x="13660614" y="2152755"/>
            <a:ext cx="217268" cy="217268"/>
          </a:xfrm>
          <a:prstGeom prst="rect">
            <a:avLst/>
          </a:prstGeom>
        </p:spPr>
      </p:pic>
      <p:sp>
        <p:nvSpPr>
          <p:cNvPr id="3" name="圆角矩形 257">
            <a:extLst>
              <a:ext uri="{FF2B5EF4-FFF2-40B4-BE49-F238E27FC236}">
                <a16:creationId xmlns:a16="http://schemas.microsoft.com/office/drawing/2014/main" id="{E2709DAE-7731-25DC-CCB9-C1234C326FD7}"/>
              </a:ext>
            </a:extLst>
          </p:cNvPr>
          <p:cNvSpPr/>
          <p:nvPr/>
        </p:nvSpPr>
        <p:spPr>
          <a:xfrm>
            <a:off x="14547933" y="2126935"/>
            <a:ext cx="1383729" cy="327877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Semantic</a:t>
            </a:r>
            <a:r>
              <a:rPr lang="zh-CN" altLang="zh-CN" sz="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KG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(entity-relation triples)</a:t>
            </a:r>
            <a:endParaRPr lang="zh-CN" altLang="zh-CN" sz="9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63" name="图片 262" descr="Network - Free shapes icons">
            <a:extLst>
              <a:ext uri="{FF2B5EF4-FFF2-40B4-BE49-F238E27FC236}">
                <a16:creationId xmlns:a16="http://schemas.microsoft.com/office/drawing/2014/main" id="{E3E59209-33E5-E172-347C-9D7201C35FB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657319" y="2029272"/>
            <a:ext cx="320935" cy="320935"/>
          </a:xfrm>
          <a:prstGeom prst="rect">
            <a:avLst/>
          </a:prstGeom>
        </p:spPr>
      </p:pic>
      <p:pic>
        <p:nvPicPr>
          <p:cNvPr id="278" name="图片 277">
            <a:extLst>
              <a:ext uri="{FF2B5EF4-FFF2-40B4-BE49-F238E27FC236}">
                <a16:creationId xmlns:a16="http://schemas.microsoft.com/office/drawing/2014/main" id="{683F20C8-074F-70A7-A1E4-E50A6023473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18134327">
            <a:off x="14392596" y="2082517"/>
            <a:ext cx="217268" cy="217268"/>
          </a:xfrm>
          <a:prstGeom prst="rect">
            <a:avLst/>
          </a:prstGeom>
        </p:spPr>
      </p:pic>
      <p:sp>
        <p:nvSpPr>
          <p:cNvPr id="6" name="圆角矩形 257">
            <a:extLst>
              <a:ext uri="{FF2B5EF4-FFF2-40B4-BE49-F238E27FC236}">
                <a16:creationId xmlns:a16="http://schemas.microsoft.com/office/drawing/2014/main" id="{4B477694-9DD3-6AD3-DD66-B8332047DF5D}"/>
              </a:ext>
            </a:extLst>
          </p:cNvPr>
          <p:cNvSpPr/>
          <p:nvPr/>
        </p:nvSpPr>
        <p:spPr>
          <a:xfrm>
            <a:off x="13314665" y="2482865"/>
            <a:ext cx="1667427" cy="352647"/>
          </a:xfrm>
          <a:prstGeom prst="roundRect">
            <a:avLst>
              <a:gd name="adj" fmla="val 4803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3">
                <a:lumMod val="75000"/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Evidence</a:t>
            </a:r>
            <a:r>
              <a:rPr lang="zh-CN" altLang="zh-CN" sz="9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9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Graph</a:t>
            </a:r>
          </a:p>
          <a:p>
            <a:r>
              <a:rPr lang="en-US" altLang="zh-CN" sz="9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(structure, logic, context)</a:t>
            </a:r>
            <a:endParaRPr lang="zh-CN" altLang="zh-CN" sz="9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79" name="图片 278">
            <a:extLst>
              <a:ext uri="{FF2B5EF4-FFF2-40B4-BE49-F238E27FC236}">
                <a16:creationId xmlns:a16="http://schemas.microsoft.com/office/drawing/2014/main" id="{5A350F54-7C36-F0F6-14D0-87154BC23A9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390096" y="2385547"/>
            <a:ext cx="217268" cy="217268"/>
          </a:xfrm>
          <a:prstGeom prst="rect">
            <a:avLst/>
          </a:prstGeom>
        </p:spPr>
      </p:pic>
      <p:pic>
        <p:nvPicPr>
          <p:cNvPr id="274" name="图片 273">
            <a:extLst>
              <a:ext uri="{FF2B5EF4-FFF2-40B4-BE49-F238E27FC236}">
                <a16:creationId xmlns:a16="http://schemas.microsoft.com/office/drawing/2014/main" id="{A611E081-03C9-E911-FAAD-F6EC1F36BD2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904973" y="2482103"/>
            <a:ext cx="296353" cy="29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6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4990</TotalTime>
  <Words>328</Words>
  <Application>Microsoft Macintosh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Microsoft YaHei</vt:lpstr>
      <vt:lpstr>Times New Roman</vt:lpstr>
      <vt:lpstr>Wingdings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畅 宗</dc:creator>
  <cp:lastModifiedBy>畅 宗</cp:lastModifiedBy>
  <cp:revision>84</cp:revision>
  <dcterms:created xsi:type="dcterms:W3CDTF">2026-07-11T01:23:35Z</dcterms:created>
  <dcterms:modified xsi:type="dcterms:W3CDTF">2026-09-07T07:07:40Z</dcterms:modified>
</cp:coreProperties>
</file>